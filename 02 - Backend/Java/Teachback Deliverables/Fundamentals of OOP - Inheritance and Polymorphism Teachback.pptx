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6e93345dff4d8c" /><Relationship Type="http://schemas.openxmlformats.org/officeDocument/2006/relationships/extended-properties" Target="/docProps/app.xml" Id="R89e9a2c30e3b4874" /><Relationship Type="http://schemas.openxmlformats.org/officeDocument/2006/relationships/officeDocument" Target="/ppt/presentation.xml" Id="R4d40b8b7e73e4b3f" /></Relationships>
</file>

<file path=ppt/presentation.xml><?xml version="1.0" encoding="utf-8"?>
<p:presentation xmlns:p="http://schemas.openxmlformats.org/presentationml/2006/main">
  <p:sldMasterIdLst>
    <p:sldMasterId xmlns:r="http://schemas.openxmlformats.org/officeDocument/2006/relationships" id="2147483648" r:id="Re53b89be0a5e4f0e"/>
  </p:sldMasterIdLst>
  <p:notesMasterIdLst>
    <p:notesMasterId xmlns:r="http://schemas.openxmlformats.org/officeDocument/2006/relationships" r:id="Rd85548b447fd474e"/>
  </p:notesMasterIdLst>
  <p:sldIdLst>
    <p:sldId xmlns:r="http://schemas.openxmlformats.org/officeDocument/2006/relationships" id="256" r:id="R0cac4e0847c1443b"/>
    <p:sldId xmlns:r="http://schemas.openxmlformats.org/officeDocument/2006/relationships" id="257" r:id="R265c21af808c4bff"/>
    <p:sldId xmlns:r="http://schemas.openxmlformats.org/officeDocument/2006/relationships" id="258" r:id="R6f6c4788a3324199"/>
    <p:sldId xmlns:r="http://schemas.openxmlformats.org/officeDocument/2006/relationships" id="259" r:id="R5a8d676c27f44edf"/>
    <p:sldId xmlns:r="http://schemas.openxmlformats.org/officeDocument/2006/relationships" id="260" r:id="Rbb8962b8d5394a79"/>
    <p:sldId xmlns:r="http://schemas.openxmlformats.org/officeDocument/2006/relationships" id="261" r:id="Rce5963bf7ef34879"/>
    <p:sldId xmlns:r="http://schemas.openxmlformats.org/officeDocument/2006/relationships" id="262" r:id="Rcc1af875b1964ead"/>
    <p:sldId xmlns:r="http://schemas.openxmlformats.org/officeDocument/2006/relationships" id="263" r:id="Ra458caf759554ef6"/>
    <p:sldId xmlns:r="http://schemas.openxmlformats.org/officeDocument/2006/relationships" id="264" r:id="R0bb0b21011944f02"/>
    <p:sldId xmlns:r="http://schemas.openxmlformats.org/officeDocument/2006/relationships" id="265" r:id="Rff397a048f4b4f9b"/>
    <p:sldId xmlns:r="http://schemas.openxmlformats.org/officeDocument/2006/relationships" id="266" r:id="Rc09b0bda3ccb409d"/>
    <p:sldId xmlns:r="http://schemas.openxmlformats.org/officeDocument/2006/relationships" id="267" r:id="R02778d3d3e2743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fb5a103fba468f" /><Relationship Type="http://schemas.openxmlformats.org/officeDocument/2006/relationships/slideMaster" Target="/ppt/slideMasters/slideMaster1.xml" Id="Re53b89be0a5e4f0e" /><Relationship Type="http://schemas.openxmlformats.org/officeDocument/2006/relationships/notesMaster" Target="/ppt/notesMasters/notesMaster1.xml" Id="Rd85548b447fd474e" /><Relationship Type="http://schemas.openxmlformats.org/officeDocument/2006/relationships/presProps" Target="/ppt/presProps.xml" Id="R80647745b2ab4f4b" /><Relationship Type="http://schemas.openxmlformats.org/officeDocument/2006/relationships/tableStyles" Target="/ppt/tableStyles.xml" Id="R8ec7a44a98a34bae" /><Relationship Type="http://schemas.openxmlformats.org/officeDocument/2006/relationships/slide" Target="/ppt/slides/slide1.xml" Id="R0cac4e0847c1443b" /><Relationship Type="http://schemas.openxmlformats.org/officeDocument/2006/relationships/slide" Target="/ppt/slides/slide2.xml" Id="R265c21af808c4bff" /><Relationship Type="http://schemas.openxmlformats.org/officeDocument/2006/relationships/slide" Target="/ppt/slides/slide3.xml" Id="R6f6c4788a3324199" /><Relationship Type="http://schemas.openxmlformats.org/officeDocument/2006/relationships/slide" Target="/ppt/slides/slide4.xml" Id="R5a8d676c27f44edf" /><Relationship Type="http://schemas.openxmlformats.org/officeDocument/2006/relationships/slide" Target="/ppt/slides/slide5.xml" Id="Rbb8962b8d5394a79" /><Relationship Type="http://schemas.openxmlformats.org/officeDocument/2006/relationships/slide" Target="/ppt/slides/slide6.xml" Id="Rce5963bf7ef34879" /><Relationship Type="http://schemas.openxmlformats.org/officeDocument/2006/relationships/slide" Target="/ppt/slides/slide7.xml" Id="Rcc1af875b1964ead" /><Relationship Type="http://schemas.openxmlformats.org/officeDocument/2006/relationships/slide" Target="/ppt/slides/slide8.xml" Id="Ra458caf759554ef6" /><Relationship Type="http://schemas.openxmlformats.org/officeDocument/2006/relationships/slide" Target="/ppt/slides/slide9.xml" Id="R0bb0b21011944f02" /><Relationship Type="http://schemas.openxmlformats.org/officeDocument/2006/relationships/slide" Target="/ppt/slides/slide10.xml" Id="Rff397a048f4b4f9b" /><Relationship Type="http://schemas.openxmlformats.org/officeDocument/2006/relationships/slide" Target="/ppt/slides/slide11.xml" Id="Rc09b0bda3ccb409d" /><Relationship Type="http://schemas.openxmlformats.org/officeDocument/2006/relationships/slide" Target="/ppt/slides/slide12.xml" Id="R02778d3d3e2743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cc0c589a8f49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92582c4d55402e" /><Relationship Type="http://schemas.openxmlformats.org/officeDocument/2006/relationships/notesMaster" Target="/ppt/notesMasters/notesMaster1.xml" Id="R5f34a152d76d42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140542ff664569" /><Relationship Type="http://schemas.openxmlformats.org/officeDocument/2006/relationships/notesMaster" Target="/ppt/notesMasters/notesMaster1.xml" Id="R484715895d984b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e0226a81914a76" /><Relationship Type="http://schemas.openxmlformats.org/officeDocument/2006/relationships/notesMaster" Target="/ppt/notesMasters/notesMaster1.xml" Id="R9d69fe03095a48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b19a286cc24648" /><Relationship Type="http://schemas.openxmlformats.org/officeDocument/2006/relationships/notesMaster" Target="/ppt/notesMasters/notesMaster1.xml" Id="Ra538f7a7caa64f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de43175e434a6b" /><Relationship Type="http://schemas.openxmlformats.org/officeDocument/2006/relationships/notesMaster" Target="/ppt/notesMasters/notesMaster1.xml" Id="R69ef3738565448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22adddc55b4383" /><Relationship Type="http://schemas.openxmlformats.org/officeDocument/2006/relationships/notesMaster" Target="/ppt/notesMasters/notesMaster1.xml" Id="R5ee3bac3bcfd49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d554d5a76b4703" /><Relationship Type="http://schemas.openxmlformats.org/officeDocument/2006/relationships/notesMaster" Target="/ppt/notesMasters/notesMaster1.xml" Id="R6ecf5913adee45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bb92e567274a1a" /><Relationship Type="http://schemas.openxmlformats.org/officeDocument/2006/relationships/notesMaster" Target="/ppt/notesMasters/notesMaster1.xml" Id="Rfb3ab681dba04a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fbaa4e50fe4cc3" /><Relationship Type="http://schemas.openxmlformats.org/officeDocument/2006/relationships/notesMaster" Target="/ppt/notesMasters/notesMaster1.xml" Id="R3c1ceb9a0d584e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9975b63eaa4951" /><Relationship Type="http://schemas.openxmlformats.org/officeDocument/2006/relationships/notesMaster" Target="/ppt/notesMasters/notesMaster1.xml" Id="Rb07157795d504b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8439bd3b28423d" /><Relationship Type="http://schemas.openxmlformats.org/officeDocument/2006/relationships/notesMaster" Target="/ppt/notesMasters/notesMaster1.xml" Id="R71a3b85b0ee543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6bbfc7136b4d57" /><Relationship Type="http://schemas.openxmlformats.org/officeDocument/2006/relationships/notesMaster" Target="/ppt/notesMasters/notesMaster1.xml" Id="Ra263e14eb6da4f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simply: Today I am breaking down inheritance and polymorphism from the ground up.</a:t>
            </a:r>
          </a:p>
          <a:p xmlns:a="http://schemas.openxmlformats.org/drawingml/2006/main">
            <a:r>
              <a:t>These concepts confused me because they are almost always demonstrated together. My goal is to show both why they are connected and exactly where they differ.</a:t>
            </a:r>
          </a:p>
          <a:p xmlns:a="http://schemas.openxmlformats.org/drawingml/2006/main">
            <a:r>
              <a:t>The entire presentation will use one classroom example: Human as the parent class, with Student and Teacher as subclasses.</a:t>
            </a:r>
          </a:p>
          <a:p xmlns:a="http://schemas.openxmlformats.org/drawingml/2006/main">
            <a:r>
              <a:t/>
            </a:r>
          </a:p>
          <a:p xmlns:a="http://schemas.openxmlformats.org/drawingml/2006/main">
            <a:r>
              <a:t>[Sources]</a:t>
            </a:r>
          </a:p>
          <a:p xmlns:a="http://schemas.openxmlformats.org/drawingml/2006/main">
            <a:r>
              <a:t>No external sources; original framing.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Read the definition once, but do not try to explain every phrase yet.</a:t>
            </a:r>
          </a:p>
          <a:p xmlns:a="http://schemas.openxmlformats.org/drawingml/2006/main">
            <a:r>
              <a:t>Say: This sounded circular to me at first. To understand polymorphism, I needed to understand the reference, the object, the type relationship, and overriding.</a:t>
            </a:r>
          </a:p>
          <a:p xmlns:a="http://schemas.openxmlformats.org/drawingml/2006/main">
            <a:r>
              <a:t>That is why I am taking a ground-up approach. I will unpack each load-bearing term and then rebuild this exact definition.</a:t>
            </a:r>
          </a:p>
          <a:p xmlns:a="http://schemas.openxmlformats.org/drawingml/2006/main">
            <a:r>
              <a:t>Preview the distinction: inheritance creates the relationship between classes; polymorphism is a runtime use of that relationship.</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Start with Human as the class. A class is a user-defined reference type that describes the structure and behavior its objects can have.</a:t>
            </a:r>
          </a:p>
          <a:p xmlns:a="http://schemas.openxmlformats.org/drawingml/2006/main">
            <a:r>
              <a:t>The name field is state: information held by each object. useSenses and communicate are behavior: operations the object can perform.</a:t>
            </a:r>
          </a:p>
          <a:p xmlns:a="http://schemas.openxmlformats.org/drawingml/2006/main">
            <a:r>
              <a:t>The two expressions on the right create two distinct Human objects. They follow the same class definition but hold different state.</a:t>
            </a:r>
          </a:p>
          <a:p xmlns:a="http://schemas.openxmlformats.org/drawingml/2006/main">
            <a:r>
              <a:t>Avoid defining identity as a raw memory address. The important point here is that each new expression creates a distinct object instance.</a:t>
            </a:r>
          </a:p>
          <a:p xmlns:a="http://schemas.openxmlformats.org/drawingml/2006/main">
            <a:r>
              <a:t>Transition: Java variables do not contain the whole object. For class types, they hold references to objects.</a:t>
            </a:r>
          </a:p>
          <a:p xmlns:a="http://schemas.openxmlformats.org/drawingml/2006/main">
            <a:r>
              <a:t/>
            </a:r>
          </a:p>
          <a:p xmlns:a="http://schemas.openxmlformats.org/drawingml/2006/main">
            <a:r>
              <a:t>[Sources]</a:t>
            </a:r>
          </a:p>
          <a:p xmlns:a="http://schemas.openxmlformats.org/drawingml/2006/main">
            <a:r>
              <a:t>https://dev.java/learn/oop/</a:t>
            </a:r>
          </a:p>
          <a:p xmlns:a="http://schemas.openxmlformats.org/drawingml/2006/main">
            <a:r>
              <a:t>https://docs.oracle.com/javase/specs/jls/se25/html/jls-4.html#jls-4.3.2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Walk through this as three separate operations.</a:t>
            </a:r>
          </a:p>
          <a:p xmlns:a="http://schemas.openxmlformats.org/drawingml/2006/main">
            <a:r>
              <a:t>Human person; is a declaration. It creates a variable whose declared, or compile-time, type is Human.</a:t>
            </a:r>
          </a:p>
          <a:p xmlns:a="http://schemas.openxmlformats.org/drawingml/2006/main">
            <a:r>
              <a:t>new Human("Zub") instantiates an object by selecting the Human constructor.</a:t>
            </a:r>
          </a:p>
          <a:p xmlns:a="http://schemas.openxmlformats.org/drawingml/2006/main">
            <a:r>
              <a:t>The equals sign assigns the resulting reference to the variable. Written together, declaration plus assignment is initialization.</a:t>
            </a:r>
          </a:p>
          <a:p xmlns:a="http://schemas.openxmlformats.org/drawingml/2006/main">
            <a:r>
              <a:t>This may feel like vocabulary, but the separation becomes essential when the declared type and runtime object type are different.</a:t>
            </a:r>
          </a:p>
          <a:p xmlns:a="http://schemas.openxmlformats.org/drawingml/2006/main">
            <a:r>
              <a:t/>
            </a:r>
          </a:p>
          <a:p xmlns:a="http://schemas.openxmlformats.org/drawingml/2006/main">
            <a:r>
              <a:t>[Sources]</a:t>
            </a:r>
          </a:p>
          <a:p xmlns:a="http://schemas.openxmlformats.org/drawingml/2006/main">
            <a:r>
              <a:t>https://docs.oracle.com/javase/specs/jls/se25/html/jls-4.html#jls-4.3.2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1:45</a:t>
            </a:r>
          </a:p>
          <a:p xmlns:a="http://schemas.openxmlformats.org/drawingml/2006/main">
            <a:r>
              <a:t>Human is the superclass. Student and Teacher are subclasses because they extend Human.</a:t>
            </a:r>
          </a:p>
          <a:p xmlns:a="http://schemas.openxmlformats.org/drawingml/2006/main">
            <a:r>
              <a:t>In this simplified classroom model, a Student is a Human and a Teacher is a Human. That subtype relationship is what makes a Student or Teacher object compatible with a Human variable.</a:t>
            </a:r>
          </a:p>
          <a:p xmlns:a="http://schemas.openxmlformats.org/drawingml/2006/main">
            <a:r>
              <a:t>The subclasses inherit accessible behavior such as getName and useSenses. They can use it without rewriting it.</a:t>
            </a:r>
          </a:p>
          <a:p xmlns:a="http://schemas.openxmlformats.org/drawingml/2006/main">
            <a:r>
              <a:t>Be precise about the private field: private name is not inherited as a member of Student or Teacher. The Human-declared state is still present within the complete object, and subclass code reaches it through getName.</a:t>
            </a:r>
          </a:p>
          <a:p xmlns:a="http://schemas.openxmlformats.org/drawingml/2006/main">
            <a:r>
              <a:t>Constructors are also not inherited. Each subclass declares its own constructor and invokes a Human constructor.</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https://docs.oracle.com/javase/specs/jls/se25/html/jls-8.html#jls-8.2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First explain the normal chain on the left. new Student selects the Student constructor explicitly. That constructor delegates Human initialization through super(name). Human stores the shared name state, and then control returns to the Student constructor.</a:t>
            </a:r>
          </a:p>
          <a:p xmlns:a="http://schemas.openxmlformats.org/drawingml/2006/main">
            <a:r>
              <a:t>Clarify that super does not create a second Human object. It initializes the Human portion of the same Student object.</a:t>
            </a:r>
          </a:p>
          <a:p xmlns:a="http://schemas.openxmlformats.org/drawingml/2006/main">
            <a:r>
              <a:t>Additional research one: many Java courses still teach that super or this must be the first constructor statement. Java 25 finalized flexible constructor bodies.</a:t>
            </a:r>
          </a:p>
          <a:p xmlns:a="http://schemas.openxmlformats.org/drawingml/2006/main">
            <a:r>
              <a:t>The code on the right is legal in Java 25 without preview flags. It validates and normalizes the parameter before invoking super.</a:t>
            </a:r>
          </a:p>
          <a:p xmlns:a="http://schemas.openxmlformats.org/drawingml/2006/main">
            <a:r>
              <a:t>The prologue is restricted: it cannot freely use the object under construction. Parameter validation and local computation are safe examples.</a:t>
            </a:r>
          </a:p>
          <a:p xmlns:a="http://schemas.openxmlformats.org/drawingml/2006/main">
            <a:r>
              <a:t>Mention that both delivered demo files were compiled with javac 25.0.2 and -Xlint:all.</a:t>
            </a:r>
          </a:p>
          <a:p xmlns:a="http://schemas.openxmlformats.org/drawingml/2006/main">
            <a:r>
              <a:t/>
            </a:r>
          </a:p>
          <a:p xmlns:a="http://schemas.openxmlformats.org/drawingml/2006/main">
            <a:r>
              <a:t>[Sources]</a:t>
            </a:r>
          </a:p>
          <a:p xmlns:a="http://schemas.openxmlformats.org/drawingml/2006/main">
            <a:r>
              <a:t>https://openjdk.org/jeps/513</a:t>
            </a:r>
          </a:p>
          <a:p xmlns:a="http://schemas.openxmlformats.org/drawingml/2006/main">
            <a:r>
              <a:t>https://docs.oracle.com/javase/specs/jls/se25/html/jls-8.html#jls-8.8.7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This slide classifies the behavior before we talk about polymorphism.</a:t>
            </a:r>
          </a:p>
          <a:p xmlns:a="http://schemas.openxmlformats.org/drawingml/2006/main">
            <a:r>
              <a:t>Reuse: both subclasses receive useSenses unchanged. That is inheritance without overriding.</a:t>
            </a:r>
          </a:p>
          <a:p xmlns:a="http://schemas.openxmlformats.org/drawingml/2006/main">
            <a:r>
              <a:t>Replace: Student and Teacher each override communicate(String). The method name and parameter list match the inherited method. @Override asks the compiler to verify that the match is real.</a:t>
            </a:r>
          </a:p>
          <a:p xmlns:a="http://schemas.openxmlformats.org/drawingml/2006/main">
            <a:r>
              <a:t>Add: Student has actions that make sense for a student—askQuestion and shareIdea. Teacher has explainConcept and answerQuestion.</a:t>
            </a:r>
          </a:p>
          <a:p xmlns:a="http://schemas.openxmlformats.org/drawingml/2006/main">
            <a:r>
              <a:t>The student communication protocol is: raise a hand, wait to be called on, and then communicate a question or idea. The teacher communicates directly when explaining or answering.</a:t>
            </a:r>
          </a:p>
          <a:p xmlns:a="http://schemas.openxmlformats.org/drawingml/2006/main">
            <a:r>
              <a:t>A subclass-specific method does not automatically belong in Human. It can remain specific to the subclass.</a:t>
            </a:r>
          </a:p>
          <a:p xmlns:a="http://schemas.openxmlformats.org/drawingml/2006/main">
            <a:r>
              <a:t/>
            </a:r>
          </a:p>
          <a:p xmlns:a="http://schemas.openxmlformats.org/drawingml/2006/main">
            <a:r>
              <a:t>[Sources]</a:t>
            </a:r>
          </a:p>
          <a:p xmlns:a="http://schemas.openxmlformats.org/drawingml/2006/main">
            <a:r>
              <a:t>https://docs.oracle.com/javase/specs/jls/se25/html/jls-8.html#jls-8.4.8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This is the slide that resolves my original confusion.</a:t>
            </a:r>
          </a:p>
          <a:p xmlns:a="http://schemas.openxmlformats.org/drawingml/2006/main">
            <a:r>
              <a:t>Inheritance and polymorphism are closely connected, but they are not the same event.</a:t>
            </a:r>
          </a:p>
          <a:p xmlns:a="http://schemas.openxmlformats.org/drawingml/2006/main">
            <a:r>
              <a:t>Inheritance is established when Student and Teacher extend Human. It creates the subtype relationship and inherited members.</a:t>
            </a:r>
          </a:p>
          <a:p xmlns:a="http://schemas.openxmlformats.org/drawingml/2006/main">
            <a:r>
              <a:t>Overriding supplies different implementations of the same inherited method.</a:t>
            </a:r>
          </a:p>
          <a:p xmlns:a="http://schemas.openxmlformats.org/drawingml/2006/main">
            <a:r>
              <a:t>Polymorphism appears when code uses a Human reference and the runtime object selects the appropriate override.</a:t>
            </a:r>
          </a:p>
          <a:p xmlns:a="http://schemas.openxmlformats.org/drawingml/2006/main">
            <a:r>
              <a:t>Use the concise sentence: inheritance makes the substitution legal; polymorphism makes the shared call behave differently.</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a:t>
            </a:r>
          </a:p>
          <a:p xmlns:a="http://schemas.openxmlformats.org/drawingml/2006/main">
            <a:r>
              <a:t>Pause before revealing each answer.</a:t>
            </a:r>
          </a:p>
          <a:p xmlns:a="http://schemas.openxmlformats.org/drawingml/2006/main">
            <a:r>
              <a:t>Ask: Does person.useSenses compile? Yes. Human declares that method, so it is part of the API visible through the Human reference. No subclass override exists, so Human's implementation runs.</a:t>
            </a:r>
          </a:p>
          <a:p xmlns:a="http://schemas.openxmlformats.org/drawingml/2006/main">
            <a:r>
              <a:t>Ask: Does person.communicate compile, and which body runs? It compiles because Human declares the method. Student's override runs because the runtime object is a Student.</a:t>
            </a:r>
          </a:p>
          <a:p xmlns:a="http://schemas.openxmlformats.org/drawingml/2006/main">
            <a:r>
              <a:t>Ask: Does person.raiseHand compile? No. The actual object has that method, but the compiler checks the declared Human type, and Human does not declare raiseHand.</a:t>
            </a:r>
          </a:p>
          <a:p xmlns:a="http://schemas.openxmlformats.org/drawingml/2006/main">
            <a:r>
              <a:t>State the decisive rule: the declared type controls what can be called; the runtime object controls which overridden instance implementation runs.</a:t>
            </a:r>
          </a:p>
          <a:p xmlns:a="http://schemas.openxmlformats.org/drawingml/2006/main">
            <a:r>
              <a:t/>
            </a:r>
          </a:p>
          <a:p xmlns:a="http://schemas.openxmlformats.org/drawingml/2006/main">
            <a:r>
              <a:t>[Sources]</a:t>
            </a:r>
          </a:p>
          <a:p xmlns:a="http://schemas.openxmlformats.org/drawingml/2006/main">
            <a:r>
              <a:t>https://docs.oracle.com/javase/specs/jls/se25/html/jls-4.html#jls-4.3.2</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a:t>
            </a:r>
          </a:p>
          <a:p xmlns:a="http://schemas.openxmlformats.org/drawingml/2006/main">
            <a:r>
              <a:t>Before running, ask the audience to predict the output order.</a:t>
            </a:r>
          </a:p>
          <a:p xmlns:a="http://schemas.openxmlformats.org/drawingml/2006/main">
            <a:r>
              <a:t>Open HumanTeachbackDemo.java. Point at the List&lt;Human&gt;, then at the loop variable Human person, and finally highlight only person.communicate(...).</a:t>
            </a:r>
          </a:p>
          <a:p xmlns:a="http://schemas.openxmlformats.org/drawingml/2006/main">
            <a:r>
              <a:t>Run: javac -Xlint:all HumanTeachbackDemo.java &amp;&amp; java HumanTeachbackDemo</a:t>
            </a:r>
          </a:p>
          <a:p xmlns:a="http://schemas.openxmlformats.org/drawingml/2006/main">
            <a:r>
              <a:t>As the output appears, connect each line to the runtime object. Student raises a hand and waits before speaking. Teacher communicates directly.</a:t>
            </a:r>
          </a:p>
          <a:p xmlns:a="http://schemas.openxmlformats.org/drawingml/2006/main">
            <a:r>
              <a:t>The list type, loop, method name, and message do not change. Only the runtime object changes.</a:t>
            </a:r>
          </a:p>
          <a:p xmlns:a="http://schemas.openxmlformats.org/drawingml/2006/main">
            <a:r>
              <a:t>Then point to the commented participant.raiseHand() line. Explain that uncommenting it produces a compile-time error because participant is declared as Human.</a:t>
            </a:r>
          </a:p>
          <a:p xmlns:a="http://schemas.openxmlformats.org/drawingml/2006/main">
            <a:r>
              <a:t>Fallback: if the IDE or terminal fails, use the output already shown on this slide and continue the explanation.</a:t>
            </a:r>
          </a:p>
          <a:p xmlns:a="http://schemas.openxmlformats.org/drawingml/2006/main">
            <a:r>
              <a:t/>
            </a:r>
          </a:p>
          <a:p xmlns:a="http://schemas.openxmlformats.org/drawingml/2006/main">
            <a:r>
              <a:t>[Sources]</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Additional research two is not simply the definition of dynamic dispatch. It is the boundary between different member-selection mechanisms.</a:t>
            </a:r>
          </a:p>
          <a:p xmlns:a="http://schemas.openxmlformats.org/drawingml/2006/main">
            <a:r>
              <a:t>Overridable instance methods are the category selected using the runtime object. That is why Student.communicate runs through a Human reference.</a:t>
            </a:r>
          </a:p>
          <a:p xmlns:a="http://schemas.openxmlformats.org/drawingml/2006/main">
            <a:r>
              <a:t>Fields are not polymorphic. A hidden field is selected using the qualifying expression's compile-time type.</a:t>
            </a:r>
          </a:p>
          <a:p xmlns:a="http://schemas.openxmlformats.org/drawingml/2006/main">
            <a:r>
              <a:t>Static methods belong to classes and are hidden rather than overridden. Their selection does not use the runtime object's override lookup.</a:t>
            </a:r>
          </a:p>
          <a:p xmlns:a="http://schemas.openxmlformats.org/drawingml/2006/main">
            <a:r>
              <a:t>Constructors are neither inherited nor overridden. new Student explicitly selects a Student constructor, which then participates in constructor chaining.</a:t>
            </a:r>
          </a:p>
          <a:p xmlns:a="http://schemas.openxmlformats.org/drawingml/2006/main">
            <a:r>
              <a:t>The safest beginner summary is: expect runtime polymorphism from overridden instance methods, not from every member with a repeated name.</a:t>
            </a:r>
          </a:p>
          <a:p xmlns:a="http://schemas.openxmlformats.org/drawingml/2006/main">
            <a:r>
              <a:t/>
            </a:r>
          </a:p>
          <a:p xmlns:a="http://schemas.openxmlformats.org/drawingml/2006/main">
            <a:r>
              <a:t>[Sources]</a:t>
            </a:r>
          </a:p>
          <a:p xmlns:a="http://schemas.openxmlformats.org/drawingml/2006/main">
            <a:r>
              <a:t>https://docs.oracle.com/javase/specs/jls/se25/html/jls-15.html#jls-15.12.4.4</a:t>
            </a:r>
          </a:p>
          <a:p xmlns:a="http://schemas.openxmlformats.org/drawingml/2006/main">
            <a:r>
              <a:t>https://docs.oracle.com/javase/specs/jls/se25/html/jls-8.html#jls-8.4.8</a:t>
            </a:r>
          </a:p>
          <a:p xmlns:a="http://schemas.openxmlformats.org/drawingml/2006/main">
            <a:r>
              <a:t>https://docs.oracle.com/javase/specs/jls/se25/html/jls-8.html#jls-8.2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Rebuild the opening definition in plain language.</a:t>
            </a:r>
          </a:p>
          <a:p xmlns:a="http://schemas.openxmlformats.org/drawingml/2006/main">
            <a:r>
              <a:t>A Human reference can point to Student or Teacher objects because inheritance created a compatible subtype relationship.</a:t>
            </a:r>
          </a:p>
          <a:p xmlns:a="http://schemas.openxmlformats.org/drawingml/2006/main">
            <a:r>
              <a:t>The call to communicate is legal because Human declares the method. The runtime object's class determines which override runs.</a:t>
            </a:r>
          </a:p>
          <a:p xmlns:a="http://schemas.openxmlformats.org/drawingml/2006/main">
            <a:r>
              <a:t>Explain the value: code can work with a classroom of Humans without writing a type-checking branch for each role.</a:t>
            </a:r>
          </a:p>
          <a:p xmlns:a="http://schemas.openxmlformats.org/drawingml/2006/main">
            <a:r>
              <a:t>Personal close: What changed for me was learning to ask two separate questions. What relationship did I declare? Which implementation will this call select?</a:t>
            </a:r>
          </a:p>
          <a:p xmlns:a="http://schemas.openxmlformats.org/drawingml/2006/main">
            <a:r>
              <a:t>Invite questions. Aim to answer at least three accurately. If an edge case is uncertain, state the boundary you know and offer to verify the detail rather than guessing.</a:t>
            </a:r>
          </a:p>
          <a:p xmlns:a="http://schemas.openxmlformats.org/drawingml/2006/main">
            <a:r>
              <a:t/>
            </a:r>
          </a:p>
          <a:p xmlns:a="http://schemas.openxmlformats.org/drawingml/2006/main">
            <a:r>
              <a:t>[Sources]</a:t>
            </a:r>
          </a:p>
          <a:p xmlns:a="http://schemas.openxmlformats.org/drawingml/2006/main">
            <a:r>
              <a:t>https://docs.oracle.com/javase/specs/jls/se25/html/jls-1.html</a:t>
            </a:r>
          </a:p>
          <a:p xmlns:a="http://schemas.openxmlformats.org/drawingml/2006/main">
            <a:r>
              <a:t>https://docs.oracle.com/javase/specs/jls/se25/html/jls-15.html#jls-15.12.4.4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30653ab65c4d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70a76dec97444e" /><Relationship Type="http://schemas.openxmlformats.org/officeDocument/2006/relationships/slideLayout" Target="/ppt/slideLayouts/slideLayout1.xml" Id="Ra68c85a45e7045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8c85a45e7045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ebb3dc52b24955" /><Relationship Type="http://schemas.openxmlformats.org/officeDocument/2006/relationships/notesSlide" Target="/ppt/notesSlides/notesSlide1.xml" Id="R4bd40627428a4e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4fb98fa3514782" /><Relationship Type="http://schemas.openxmlformats.org/officeDocument/2006/relationships/notesSlide" Target="/ppt/notesSlides/notesSlide2.xml" Id="R8088846ad2d9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8dd1fd46df4540" /><Relationship Type="http://schemas.openxmlformats.org/officeDocument/2006/relationships/notesSlide" Target="/ppt/notesSlides/notesSlide3.xml" Id="R34830f238cbb4f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13b909443f48c5" /><Relationship Type="http://schemas.openxmlformats.org/officeDocument/2006/relationships/notesSlide" Target="/ppt/notesSlides/notesSlide4.xml" Id="Rb4945276e63841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a5ed1411aa4f14" /><Relationship Type="http://schemas.openxmlformats.org/officeDocument/2006/relationships/notesSlide" Target="/ppt/notesSlides/notesSlide5.xml" Id="R9c15bd93ec4b44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c4533a2bbb4286" /><Relationship Type="http://schemas.openxmlformats.org/officeDocument/2006/relationships/notesSlide" Target="/ppt/notesSlides/notesSlide6.xml" Id="R584b19b92aba4f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babfa3f4fa4fc5" /><Relationship Type="http://schemas.openxmlformats.org/officeDocument/2006/relationships/notesSlide" Target="/ppt/notesSlides/notesSlide7.xml" Id="Ra3b1cd4ac8a44c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82c6790715456d" /><Relationship Type="http://schemas.openxmlformats.org/officeDocument/2006/relationships/notesSlide" Target="/ppt/notesSlides/notesSlide8.xml" Id="Rbf4bd3fdb2ee4a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851e72e0464261" /><Relationship Type="http://schemas.openxmlformats.org/officeDocument/2006/relationships/notesSlide" Target="/ppt/notesSlides/notesSlide9.xml" Id="R31e71753a44443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be2c08d30d4e5a" /><Relationship Type="http://schemas.openxmlformats.org/officeDocument/2006/relationships/notesSlide" Target="/ppt/notesSlides/notesSlide10.xml" Id="Rf3ac0f2863b348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cf91c8ed074d27" /><Relationship Type="http://schemas.openxmlformats.org/officeDocument/2006/relationships/notesSlide" Target="/ppt/notesSlides/notesSlide11.xml" Id="R24ab9ac2350f4f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9e0928395f4794" /><Relationship Type="http://schemas.openxmlformats.org/officeDocument/2006/relationships/notesSlide" Target="/ppt/notesSlides/notesSlide12.xml" Id="R58a50192e59a47a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7326B26-B52C-4DDE-A30A-C258C8FA81CB}"/>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Fundamentals of OOP:
Inheritance &amp; Polymorphism</a:t>
            </a:r>
          </a:p>
        </p:txBody>
      </p:sp>
      <p:sp>
        <p:nvSpPr>
          <p:cNvPr id="2" name="Subtitle-4-2">
            <a:extLst xmlns:a="http://schemas.openxmlformats.org/drawingml/2006/main">
              <a:ext uri="{FF2B5EF4-FFF2-40B4-BE49-F238E27FC236}">
                <a16:creationId xmlns:a16="http://schemas.microsoft.com/office/drawing/2014/main" id="{3B4EC40B-555B-4206-8A3B-7251C535C907}"/>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One family. Different voices.</a:t>
            </a:r>
          </a:p>
        </p:txBody>
      </p:sp>
      <p:sp>
        <p:nvSpPr>
          <p:cNvPr id="3" name="Subtitle-4-3">
            <a:extLst xmlns:a="http://schemas.openxmlformats.org/drawingml/2006/main">
              <a:ext uri="{FF2B5EF4-FFF2-40B4-BE49-F238E27FC236}">
                <a16:creationId xmlns:a16="http://schemas.microsoft.com/office/drawing/2014/main" id="{A33900DB-2C62-4E59-8296-3EC3EAE6C9CF}"/>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JAVA 25 TEACHBACK</a:t>
            </a:r>
          </a:p>
        </p:txBody>
      </p:sp>
    </p:spTree>
    <p:extLst>
      <p:ext uri="{BB962C8B-B14F-4D97-AF65-F5344CB8AC3E}">
        <p14:creationId xmlns:p14="http://schemas.microsoft.com/office/powerpoint/2010/main" val="4885060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601C385-77FB-48E0-AC23-690EB048A7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5A436B46-2463-432F-B9C9-CC9B20C0B4D4}"/>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sentence hides several foundations</a:t>
            </a:r>
          </a:p>
        </p:txBody>
      </p:sp>
      <p:sp>
        <p:nvSpPr>
          <p:cNvPr id="3" name="Rounded-Rectangle-1-4">
            <a:extLst xmlns:a="http://schemas.openxmlformats.org/drawingml/2006/main">
              <a:ext uri="{FF2B5EF4-FFF2-40B4-BE49-F238E27FC236}">
                <a16:creationId xmlns:a16="http://schemas.microsoft.com/office/drawing/2014/main" id="{C6147341-E973-455E-8D8C-6DA42C566632}"/>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13113EE0-364C-4CBB-A709-07335E4F34EC}"/>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Inheritance
builds the relationship</a:t>
            </a:r>
          </a:p>
        </p:txBody>
      </p:sp>
      <p:sp>
        <p:nvSpPr>
          <p:cNvPr id="5" name="Content-Placeholder-15-6">
            <a:extLst xmlns:a="http://schemas.openxmlformats.org/drawingml/2006/main">
              <a:ext uri="{FF2B5EF4-FFF2-40B4-BE49-F238E27FC236}">
                <a16:creationId xmlns:a16="http://schemas.microsoft.com/office/drawing/2014/main" id="{0B462EF6-2BF1-46BF-B32F-0C0E94D4DD96}"/>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class → subtype</a:t>
            </a:r>
          </a:p>
          <a:p xmlns:a="http://schemas.openxmlformats.org/drawingml/2006/main">
            <a:pPr algn="l">
              <a:defRPr sz="1600">
                <a:solidFill>
                  <a:srgbClr val="000000"/>
                </a:solidFill>
                <a:latin typeface="Helvetica Neue"/>
                <a:ea typeface="Helvetica Neue"/>
                <a:cs typeface="Helvetica Neue"/>
              </a:defRPr>
            </a:pPr>
            <a:r>
              <a:t>shared state and behavior</a:t>
            </a:r>
          </a:p>
          <a:p xmlns:a="http://schemas.openxmlformats.org/drawingml/2006/main">
            <a:pPr algn="l">
              <a:defRPr sz="1600">
                <a:solidFill>
                  <a:srgbClr val="000000"/>
                </a:solidFill>
                <a:latin typeface="Helvetica Neue"/>
                <a:ea typeface="Helvetica Neue"/>
                <a:cs typeface="Helvetica Neue"/>
              </a:defRPr>
            </a:pPr>
            <a:r>
              <a:t/>
            </a:r>
          </a:p>
        </p:txBody>
      </p:sp>
      <p:sp>
        <p:nvSpPr>
          <p:cNvPr id="6" name="Rounded-Rectangle-7-7">
            <a:extLst xmlns:a="http://schemas.openxmlformats.org/drawingml/2006/main">
              <a:ext uri="{FF2B5EF4-FFF2-40B4-BE49-F238E27FC236}">
                <a16:creationId xmlns:a16="http://schemas.microsoft.com/office/drawing/2014/main" id="{527D353B-DE6E-4088-807E-53E89A1B0D83}"/>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691CDC5D-2513-45FD-85DD-DC7128EF1578}"/>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Polymorphism
uses the relationship</a:t>
            </a:r>
          </a:p>
        </p:txBody>
      </p:sp>
      <p:sp>
        <p:nvSpPr>
          <p:cNvPr id="8" name="Content-Placeholder-15-9">
            <a:extLst xmlns:a="http://schemas.openxmlformats.org/drawingml/2006/main">
              <a:ext uri="{FF2B5EF4-FFF2-40B4-BE49-F238E27FC236}">
                <a16:creationId xmlns:a16="http://schemas.microsoft.com/office/drawing/2014/main" id="{21B8988D-4B99-4E8B-89A7-F45D86E035C8}"/>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one shared reference type</a:t>
            </a:r>
          </a:p>
          <a:p xmlns:a="http://schemas.openxmlformats.org/drawingml/2006/main">
            <a:pPr algn="l">
              <a:defRPr sz="1600">
                <a:solidFill>
                  <a:srgbClr val="000000"/>
                </a:solidFill>
                <a:latin typeface="Helvetica Neue"/>
                <a:ea typeface="Helvetica Neue"/>
                <a:cs typeface="Helvetica Neue"/>
              </a:defRPr>
            </a:pPr>
            <a:r>
              <a:t>runtime behavior can differ</a:t>
            </a:r>
          </a:p>
          <a:p xmlns:a="http://schemas.openxmlformats.org/drawingml/2006/main">
            <a:pPr algn="l">
              <a:defRPr sz="1600">
                <a:solidFill>
                  <a:srgbClr val="000000"/>
                </a:solidFill>
                <a:latin typeface="Helvetica Neue"/>
                <a:ea typeface="Helvetica Neue"/>
                <a:cs typeface="Helvetica Neue"/>
              </a:defRPr>
            </a:pPr>
            <a:r>
              <a:t/>
            </a:r>
          </a:p>
        </p:txBody>
      </p:sp>
      <p:sp>
        <p:nvSpPr>
          <p:cNvPr id="9" name="Content-Placeholder-15-10">
            <a:extLst xmlns:a="http://schemas.openxmlformats.org/drawingml/2006/main">
              <a:ext uri="{FF2B5EF4-FFF2-40B4-BE49-F238E27FC236}">
                <a16:creationId xmlns:a16="http://schemas.microsoft.com/office/drawing/2014/main" id="{2A2DF8D4-49F0-4CDA-8311-E8BB217DF607}"/>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Runtime polymorphism lets a supertype reference point to subtype objects, while an overridden instance method is selected from the runtime object’s class.</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9214018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Google-Shape-532-p58-2">
            <a:extLst xmlns:a="http://schemas.openxmlformats.org/drawingml/2006/main">
              <a:ext uri="{FF2B5EF4-FFF2-40B4-BE49-F238E27FC236}">
                <a16:creationId xmlns:a16="http://schemas.microsoft.com/office/drawing/2014/main" id="{0B9712A0-681D-4E36-A492-F05CD612589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18A7D27E-06EF-4DA2-B8EB-DCEF96B1216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class describes; an object exists</a:t>
            </a:r>
          </a:p>
        </p:txBody>
      </p:sp>
      <p:sp>
        <p:nvSpPr>
          <p:cNvPr id="3" name="Google-Shape-534-p58-4">
            <a:extLst xmlns:a="http://schemas.openxmlformats.org/drawingml/2006/main">
              <a:ext uri="{FF2B5EF4-FFF2-40B4-BE49-F238E27FC236}">
                <a16:creationId xmlns:a16="http://schemas.microsoft.com/office/drawing/2014/main" id="{07EA5210-0F6F-49B7-9F30-0AF954FE999C}"/>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ED86F0F3-6D61-4005-8DA2-9508935D855D}"/>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Human-Class-Code-Background">
            <a:extLst xmlns:a="http://schemas.openxmlformats.org/drawingml/2006/main">
              <a:ext uri="{FF2B5EF4-FFF2-40B4-BE49-F238E27FC236}">
                <a16:creationId xmlns:a16="http://schemas.microsoft.com/office/drawing/2014/main" id="{EFF9ADE8-AFE3-4CA6-9964-B4BBD77772EB}"/>
              </a:ext>
            </a:extLst>
          </p:cNvPr>
          <p:cNvSpPr>
            <a:spLocks xmlns:a="http://schemas.openxmlformats.org/drawingml/2006/main" noGrp="1"/>
          </p:cNvSpPr>
          <p:nvPr/>
        </p:nvSpPr>
        <p:spPr>
          <a:xfrm xmlns:a="http://schemas.openxmlformats.org/drawingml/2006/main">
            <a:off x="390525" y="1809750"/>
            <a:ext cx="5543550" cy="3714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6" name="Human-Class-Code-Highlight-2">
            <a:extLst xmlns:a="http://schemas.openxmlformats.org/drawingml/2006/main">
              <a:ext uri="{FF2B5EF4-FFF2-40B4-BE49-F238E27FC236}">
                <a16:creationId xmlns:a16="http://schemas.microsoft.com/office/drawing/2014/main" id="{E8ED1C6D-FD0D-4A90-83BF-B0A8E86627AF}"/>
              </a:ext>
            </a:extLst>
          </p:cNvPr>
          <p:cNvSpPr>
            <a:spLocks xmlns:a="http://schemas.openxmlformats.org/drawingml/2006/main" noGrp="1"/>
          </p:cNvSpPr>
          <p:nvPr/>
        </p:nvSpPr>
        <p:spPr>
          <a:xfrm xmlns:a="http://schemas.openxmlformats.org/drawingml/2006/main">
            <a:off x="476250" y="2219325"/>
            <a:ext cx="5372100" cy="2762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Human-Class-Code-Highlight-4">
            <a:extLst xmlns:a="http://schemas.openxmlformats.org/drawingml/2006/main">
              <a:ext uri="{FF2B5EF4-FFF2-40B4-BE49-F238E27FC236}">
                <a16:creationId xmlns:a16="http://schemas.microsoft.com/office/drawing/2014/main" id="{66440177-A91D-455E-9E2F-F1B8AAF4A2FB}"/>
              </a:ext>
            </a:extLst>
          </p:cNvPr>
          <p:cNvSpPr>
            <a:spLocks xmlns:a="http://schemas.openxmlformats.org/drawingml/2006/main" noGrp="1"/>
          </p:cNvSpPr>
          <p:nvPr/>
        </p:nvSpPr>
        <p:spPr>
          <a:xfrm xmlns:a="http://schemas.openxmlformats.org/drawingml/2006/main">
            <a:off x="476250" y="2790825"/>
            <a:ext cx="5372100" cy="2762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Human-Class-Code-Highlight-5">
            <a:extLst xmlns:a="http://schemas.openxmlformats.org/drawingml/2006/main">
              <a:ext uri="{FF2B5EF4-FFF2-40B4-BE49-F238E27FC236}">
                <a16:creationId xmlns:a16="http://schemas.microsoft.com/office/drawing/2014/main" id="{2896F6AD-B9E0-48DA-9167-6A9D10B881B1}"/>
              </a:ext>
            </a:extLst>
          </p:cNvPr>
          <p:cNvSpPr>
            <a:spLocks xmlns:a="http://schemas.openxmlformats.org/drawingml/2006/main" noGrp="1"/>
          </p:cNvSpPr>
          <p:nvPr/>
        </p:nvSpPr>
        <p:spPr>
          <a:xfrm xmlns:a="http://schemas.openxmlformats.org/drawingml/2006/main">
            <a:off x="476250" y="3076575"/>
            <a:ext cx="5372100" cy="2762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Human-Class-Code">
            <a:extLst xmlns:a="http://schemas.openxmlformats.org/drawingml/2006/main">
              <a:ext uri="{FF2B5EF4-FFF2-40B4-BE49-F238E27FC236}">
                <a16:creationId xmlns:a16="http://schemas.microsoft.com/office/drawing/2014/main" id="{E654DEEA-7CF2-4CC7-A46C-2E7F9BF87F19}"/>
              </a:ext>
            </a:extLst>
          </p:cNvPr>
          <p:cNvSpPr>
            <a:spLocks xmlns:a="http://schemas.openxmlformats.org/drawingml/2006/main" noGrp="1"/>
          </p:cNvSpPr>
          <p:nvPr/>
        </p:nvSpPr>
        <p:spPr>
          <a:xfrm xmlns:a="http://schemas.openxmlformats.org/drawingml/2006/main">
            <a:off x="542925" y="1924050"/>
            <a:ext cx="52387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388">
                <a:solidFill>
                  <a:srgbClr val="000000"/>
                </a:solidFill>
                <a:latin typeface="Menlo"/>
                <a:ea typeface="Menlo"/>
                <a:cs typeface="Menlo"/>
              </a:defRPr>
            </a:pPr>
            <a:r>
              <a:rPr sz="1388" b="1">
                <a:solidFill>
                  <a:srgbClr val="000000"/>
                </a:solidFill>
                <a:latin typeface="Menlo"/>
                <a:ea typeface="Menlo"/>
                <a:cs typeface="Menlo"/>
              </a:rPr>
              <a:t>class</a:t>
            </a:r>
            <a:r>
              <a:rPr sz="1388">
                <a:solidFill>
                  <a:srgbClr val="000000"/>
                </a:solidFill>
                <a:latin typeface="Menlo"/>
                <a:ea typeface="Menlo"/>
                <a:cs typeface="Menlo"/>
              </a:rPr>
              <a:t> Human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private final</a:t>
            </a:r>
            <a:r>
              <a:rPr sz="1388">
                <a:solidFill>
                  <a:srgbClr val="000000"/>
                </a:solidFill>
                <a:latin typeface="Menlo"/>
                <a:ea typeface="Menlo"/>
                <a:cs typeface="Menlo"/>
              </a:rPr>
              <a:t> String name;</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void</a:t>
            </a:r>
            <a:r>
              <a:rPr sz="1388">
                <a:solidFill>
                  <a:srgbClr val="000000"/>
                </a:solidFill>
                <a:latin typeface="Menlo"/>
                <a:ea typeface="Menlo"/>
                <a:cs typeface="Menlo"/>
              </a:rPr>
              <a:t> useSenses() { ...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void</a:t>
            </a:r>
            <a:r>
              <a:rPr sz="1388">
                <a:solidFill>
                  <a:srgbClr val="000000"/>
                </a:solidFill>
                <a:latin typeface="Menlo"/>
                <a:ea typeface="Menlo"/>
                <a:cs typeface="Menlo"/>
              </a:rPr>
              <a:t> communicate(String message) { ...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a:t>
            </a:r>
          </a:p>
        </p:txBody>
      </p:sp>
      <p:sp>
        <p:nvSpPr>
          <p:cNvPr id="10" name="Class-Labels">
            <a:extLst xmlns:a="http://schemas.openxmlformats.org/drawingml/2006/main">
              <a:ext uri="{FF2B5EF4-FFF2-40B4-BE49-F238E27FC236}">
                <a16:creationId xmlns:a16="http://schemas.microsoft.com/office/drawing/2014/main" id="{15177554-629E-4756-9BB3-8438BBD5A46E}"/>
              </a:ext>
            </a:extLst>
          </p:cNvPr>
          <p:cNvSpPr>
            <a:spLocks xmlns:a="http://schemas.openxmlformats.org/drawingml/2006/main" noGrp="1"/>
          </p:cNvSpPr>
          <p:nvPr/>
        </p:nvSpPr>
        <p:spPr>
          <a:xfrm xmlns:a="http://schemas.openxmlformats.org/drawingml/2006/main">
            <a:off x="561975" y="5724525"/>
            <a:ext cx="5143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CLASS</a:t>
            </a:r>
          </a:p>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A user-defined type that describes state and behavior.</a:t>
            </a:r>
          </a:p>
        </p:txBody>
      </p:sp>
      <p:sp>
        <p:nvSpPr>
          <p:cNvPr id="11" name="Object-Zub">
            <a:extLst xmlns:a="http://schemas.openxmlformats.org/drawingml/2006/main">
              <a:ext uri="{FF2B5EF4-FFF2-40B4-BE49-F238E27FC236}">
                <a16:creationId xmlns:a16="http://schemas.microsoft.com/office/drawing/2014/main" id="{1DA87691-391D-42B9-ABDC-8FF5FE632064}"/>
              </a:ext>
            </a:extLst>
          </p:cNvPr>
          <p:cNvSpPr>
            <a:spLocks xmlns:a="http://schemas.openxmlformats.org/drawingml/2006/main" noGrp="1"/>
          </p:cNvSpPr>
          <p:nvPr/>
        </p:nvSpPr>
        <p:spPr>
          <a:xfrm xmlns:a="http://schemas.openxmlformats.org/drawingml/2006/main">
            <a:off x="6429375" y="2000250"/>
            <a:ext cx="5095875" cy="12573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Object-Zub-Code">
            <a:extLst xmlns:a="http://schemas.openxmlformats.org/drawingml/2006/main">
              <a:ext uri="{FF2B5EF4-FFF2-40B4-BE49-F238E27FC236}">
                <a16:creationId xmlns:a16="http://schemas.microsoft.com/office/drawing/2014/main" id="{AFB698F7-C596-4465-8FD1-D1E7F30A17BE}"/>
              </a:ext>
            </a:extLst>
          </p:cNvPr>
          <p:cNvSpPr>
            <a:spLocks xmlns:a="http://schemas.openxmlformats.org/drawingml/2006/main" noGrp="1"/>
          </p:cNvSpPr>
          <p:nvPr/>
        </p:nvSpPr>
        <p:spPr>
          <a:xfrm xmlns:a="http://schemas.openxmlformats.org/drawingml/2006/main">
            <a:off x="6686550" y="22193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Menlo"/>
                <a:ea typeface="Menlo"/>
                <a:cs typeface="Menlo"/>
              </a:defRPr>
            </a:pPr>
            <a:r>
              <a:rPr sz="2175" b="1">
                <a:solidFill>
                  <a:srgbClr val="000000"/>
                </a:solidFill>
                <a:latin typeface="Menlo"/>
                <a:ea typeface="Menlo"/>
                <a:cs typeface="Menlo"/>
              </a:rPr>
              <a:t>new Human("Zub")</a:t>
            </a:r>
          </a:p>
        </p:txBody>
      </p:sp>
      <p:sp>
        <p:nvSpPr>
          <p:cNvPr id="13" name="Object-Zub-Detail">
            <a:extLst xmlns:a="http://schemas.openxmlformats.org/drawingml/2006/main">
              <a:ext uri="{FF2B5EF4-FFF2-40B4-BE49-F238E27FC236}">
                <a16:creationId xmlns:a16="http://schemas.microsoft.com/office/drawing/2014/main" id="{0C72963B-13E6-4C59-BC21-74F75DC21B8D}"/>
              </a:ext>
            </a:extLst>
          </p:cNvPr>
          <p:cNvSpPr>
            <a:spLocks xmlns:a="http://schemas.openxmlformats.org/drawingml/2006/main" noGrp="1"/>
          </p:cNvSpPr>
          <p:nvPr/>
        </p:nvSpPr>
        <p:spPr>
          <a:xfrm xmlns:a="http://schemas.openxmlformats.org/drawingml/2006/main">
            <a:off x="6686550" y="27432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5E6470"/>
                </a:solidFill>
                <a:latin typeface="Helvetica Neue"/>
                <a:ea typeface="Helvetica Neue"/>
                <a:cs typeface="Helvetica Neue"/>
              </a:defRPr>
            </a:pPr>
            <a:r>
              <a:rPr sz="1500">
                <a:solidFill>
                  <a:srgbClr val="5E6470"/>
                </a:solidFill>
                <a:latin typeface="Helvetica Neue"/>
                <a:ea typeface="Helvetica Neue"/>
                <a:cs typeface="Helvetica Neue"/>
              </a:rPr>
              <a:t>one object • name = “Zub”</a:t>
            </a:r>
          </a:p>
        </p:txBody>
      </p:sp>
      <p:sp>
        <p:nvSpPr>
          <p:cNvPr id="14" name="Object-Maya">
            <a:extLst xmlns:a="http://schemas.openxmlformats.org/drawingml/2006/main">
              <a:ext uri="{FF2B5EF4-FFF2-40B4-BE49-F238E27FC236}">
                <a16:creationId xmlns:a16="http://schemas.microsoft.com/office/drawing/2014/main" id="{9389E408-1A36-4C6F-8F0D-300EA9C597D1}"/>
              </a:ext>
            </a:extLst>
          </p:cNvPr>
          <p:cNvSpPr>
            <a:spLocks xmlns:a="http://schemas.openxmlformats.org/drawingml/2006/main" noGrp="1"/>
          </p:cNvSpPr>
          <p:nvPr/>
        </p:nvSpPr>
        <p:spPr>
          <a:xfrm xmlns:a="http://schemas.openxmlformats.org/drawingml/2006/main">
            <a:off x="6429375" y="3638550"/>
            <a:ext cx="5095875" cy="12573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5" name="Object-Maya-Code">
            <a:extLst xmlns:a="http://schemas.openxmlformats.org/drawingml/2006/main">
              <a:ext uri="{FF2B5EF4-FFF2-40B4-BE49-F238E27FC236}">
                <a16:creationId xmlns:a16="http://schemas.microsoft.com/office/drawing/2014/main" id="{4603CB37-E85B-478D-9851-B1FF3C0592EB}"/>
              </a:ext>
            </a:extLst>
          </p:cNvPr>
          <p:cNvSpPr>
            <a:spLocks xmlns:a="http://schemas.openxmlformats.org/drawingml/2006/main" noGrp="1"/>
          </p:cNvSpPr>
          <p:nvPr/>
        </p:nvSpPr>
        <p:spPr>
          <a:xfrm xmlns:a="http://schemas.openxmlformats.org/drawingml/2006/main">
            <a:off x="6686550" y="38576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Menlo"/>
                <a:ea typeface="Menlo"/>
                <a:cs typeface="Menlo"/>
              </a:defRPr>
            </a:pPr>
            <a:r>
              <a:rPr sz="2175" b="1">
                <a:solidFill>
                  <a:srgbClr val="000000"/>
                </a:solidFill>
                <a:latin typeface="Menlo"/>
                <a:ea typeface="Menlo"/>
                <a:cs typeface="Menlo"/>
              </a:rPr>
              <a:t>new Human("Maya")</a:t>
            </a:r>
          </a:p>
        </p:txBody>
      </p:sp>
      <p:sp>
        <p:nvSpPr>
          <p:cNvPr id="16" name="Object-Maya-Detail">
            <a:extLst xmlns:a="http://schemas.openxmlformats.org/drawingml/2006/main">
              <a:ext uri="{FF2B5EF4-FFF2-40B4-BE49-F238E27FC236}">
                <a16:creationId xmlns:a16="http://schemas.microsoft.com/office/drawing/2014/main" id="{B7088D21-7471-402A-BA91-9F8B72C14722}"/>
              </a:ext>
            </a:extLst>
          </p:cNvPr>
          <p:cNvSpPr>
            <a:spLocks xmlns:a="http://schemas.openxmlformats.org/drawingml/2006/main" noGrp="1"/>
          </p:cNvSpPr>
          <p:nvPr/>
        </p:nvSpPr>
        <p:spPr>
          <a:xfrm xmlns:a="http://schemas.openxmlformats.org/drawingml/2006/main">
            <a:off x="6686550" y="4381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5E6470"/>
                </a:solidFill>
                <a:latin typeface="Helvetica Neue"/>
                <a:ea typeface="Helvetica Neue"/>
                <a:cs typeface="Helvetica Neue"/>
              </a:defRPr>
            </a:pPr>
            <a:r>
              <a:rPr sz="1500">
                <a:solidFill>
                  <a:srgbClr val="5E6470"/>
                </a:solidFill>
                <a:latin typeface="Helvetica Neue"/>
                <a:ea typeface="Helvetica Neue"/>
                <a:cs typeface="Helvetica Neue"/>
              </a:rPr>
              <a:t>another object • name = “Maya”</a:t>
            </a:r>
          </a:p>
        </p:txBody>
      </p:sp>
      <p:sp>
        <p:nvSpPr>
          <p:cNvPr id="17" name="Object-Labels">
            <a:extLst xmlns:a="http://schemas.openxmlformats.org/drawingml/2006/main">
              <a:ext uri="{FF2B5EF4-FFF2-40B4-BE49-F238E27FC236}">
                <a16:creationId xmlns:a16="http://schemas.microsoft.com/office/drawing/2014/main" id="{F89F2138-24A1-4426-8AAB-408B13709E9A}"/>
              </a:ext>
            </a:extLst>
          </p:cNvPr>
          <p:cNvSpPr>
            <a:spLocks xmlns:a="http://schemas.openxmlformats.org/drawingml/2006/main" noGrp="1"/>
          </p:cNvSpPr>
          <p:nvPr/>
        </p:nvSpPr>
        <p:spPr>
          <a:xfrm xmlns:a="http://schemas.openxmlformats.org/drawingml/2006/main">
            <a:off x="6429375" y="5267325"/>
            <a:ext cx="5095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a:solidFill>
                  <a:srgbClr val="000000"/>
                </a:solidFill>
                <a:latin typeface="Helvetica Neue"/>
                <a:ea typeface="Helvetica Neue"/>
                <a:cs typeface="Helvetica Neue"/>
              </a:defRPr>
            </a:pPr>
            <a:r>
              <a:rPr sz="1575">
                <a:solidFill>
                  <a:srgbClr val="000000"/>
                </a:solidFill>
                <a:latin typeface="Helvetica Neue"/>
                <a:ea typeface="Helvetica Neue"/>
                <a:cs typeface="Helvetica Neue"/>
              </a:rPr>
              <a:t>OBJECTS</a:t>
            </a:r>
          </a:p>
          <a:p xmlns:a="http://schemas.openxmlformats.org/drawingml/2006/main">
            <a:pPr algn="l">
              <a:defRPr sz="1575">
                <a:solidFill>
                  <a:srgbClr val="000000"/>
                </a:solidFill>
                <a:latin typeface="Helvetica Neue"/>
                <a:ea typeface="Helvetica Neue"/>
                <a:cs typeface="Helvetica Neue"/>
              </a:defRPr>
            </a:pPr>
            <a:r>
              <a:rPr sz="1575">
                <a:solidFill>
                  <a:srgbClr val="000000"/>
                </a:solidFill>
                <a:latin typeface="Helvetica Neue"/>
                <a:ea typeface="Helvetica Neue"/>
                <a:cs typeface="Helvetica Neue"/>
              </a:rPr>
              <a:t>Concrete runtime instances created from the class definition.</a:t>
            </a:r>
          </a:p>
        </p:txBody>
      </p:sp>
    </p:spTree>
    <p:extLst>
      <p:ext uri="{BB962C8B-B14F-4D97-AF65-F5344CB8AC3E}">
        <p14:creationId xmlns:p14="http://schemas.microsoft.com/office/powerpoint/2010/main" val="3170506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E9C7B416-3395-4C9E-8380-8CB6CFE1F5E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0E83955F-7AD3-4C3D-B92F-E77FE889A09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Reference variable ≠ object</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284B162-E772-4B9C-893A-21C4DFB35DEF}"/>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612A1F28-AE31-4758-98DA-4FFE6C8B5CB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E82EB807-954D-442D-8A6E-A3C0A85D704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6F75391B-18DF-482A-8D8A-F62B145867A5}"/>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DECLARE</a:t>
            </a:r>
          </a:p>
        </p:txBody>
      </p:sp>
      <p:sp>
        <p:nvSpPr>
          <p:cNvPr id="8" name="Content-Placeholder-15-9">
            <a:extLst xmlns:a="http://schemas.openxmlformats.org/drawingml/2006/main">
              <a:ext uri="{FF2B5EF4-FFF2-40B4-BE49-F238E27FC236}">
                <a16:creationId xmlns:a16="http://schemas.microsoft.com/office/drawing/2014/main" id="{A60F152C-0A55-4A66-BD20-F86CE2E99D08}"/>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CREATE</a:t>
            </a:r>
          </a:p>
        </p:txBody>
      </p:sp>
      <p:sp>
        <p:nvSpPr>
          <p:cNvPr id="9" name="Content-Placeholder-15-10">
            <a:extLst xmlns:a="http://schemas.openxmlformats.org/drawingml/2006/main">
              <a:ext uri="{FF2B5EF4-FFF2-40B4-BE49-F238E27FC236}">
                <a16:creationId xmlns:a16="http://schemas.microsoft.com/office/drawing/2014/main" id="{74E05E16-F7C8-4EE1-8CA3-660FAE23A57F}"/>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COMBINE</a:t>
            </a:r>
          </a:p>
        </p:txBody>
      </p:sp>
      <p:sp>
        <p:nvSpPr>
          <p:cNvPr id="10" name="Text-Placeholder-16-11">
            <a:extLst xmlns:a="http://schemas.openxmlformats.org/drawingml/2006/main">
              <a:ext uri="{FF2B5EF4-FFF2-40B4-BE49-F238E27FC236}">
                <a16:creationId xmlns:a16="http://schemas.microsoft.com/office/drawing/2014/main" id="{712C227D-1EAE-4CAC-A323-8711CE3B0BCD}"/>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new Human("Zub")</a:t>
            </a:r>
          </a:p>
          <a:p xmlns:a="http://schemas.openxmlformats.org/drawingml/2006/main">
            <a:pPr algn="l">
              <a:defRPr sz="2400">
                <a:solidFill>
                  <a:srgbClr val="000000"/>
                </a:solidFill>
                <a:latin typeface="Helvetica Neue"/>
                <a:ea typeface="Helvetica Neue"/>
                <a:cs typeface="Helvetica Neue"/>
              </a:defRPr>
            </a:pPr>
            <a:r>
              <a:t>A constructor call creates a new object.</a:t>
            </a:r>
          </a:p>
        </p:txBody>
      </p:sp>
      <p:sp>
        <p:nvSpPr>
          <p:cNvPr id="11" name="Text-Placeholder-16-12">
            <a:extLst xmlns:a="http://schemas.openxmlformats.org/drawingml/2006/main">
              <a:ext uri="{FF2B5EF4-FFF2-40B4-BE49-F238E27FC236}">
                <a16:creationId xmlns:a16="http://schemas.microsoft.com/office/drawing/2014/main" id="{1096F239-AD7A-4B2C-96BA-29C3A3E174C3}"/>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person;</a:t>
            </a:r>
          </a:p>
          <a:p xmlns:a="http://schemas.openxmlformats.org/drawingml/2006/main">
            <a:pPr algn="l">
              <a:defRPr sz="2400">
                <a:solidFill>
                  <a:srgbClr val="000000"/>
                </a:solidFill>
                <a:latin typeface="Helvetica Neue"/>
                <a:ea typeface="Helvetica Neue"/>
                <a:cs typeface="Helvetica Neue"/>
              </a:defRPr>
            </a:pPr>
            <a:r>
              <a:t>A reference variable whose declared type is Human.</a:t>
            </a:r>
          </a:p>
        </p:txBody>
      </p:sp>
      <p:sp>
        <p:nvSpPr>
          <p:cNvPr id="12" name="Text-Placeholder-16-13">
            <a:extLst xmlns:a="http://schemas.openxmlformats.org/drawingml/2006/main">
              <a:ext uri="{FF2B5EF4-FFF2-40B4-BE49-F238E27FC236}">
                <a16:creationId xmlns:a16="http://schemas.microsoft.com/office/drawing/2014/main" id="{22763A5C-6361-4F80-85AC-5F8BF46245C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person =
new Human("Zub");</a:t>
            </a:r>
          </a:p>
          <a:p xmlns:a="http://schemas.openxmlformats.org/drawingml/2006/main">
            <a:pPr algn="l">
              <a:defRPr sz="2400">
                <a:solidFill>
                  <a:srgbClr val="000000"/>
                </a:solidFill>
                <a:latin typeface="Helvetica Neue"/>
                <a:ea typeface="Helvetica Neue"/>
                <a:cs typeface="Helvetica Neue"/>
              </a:defRPr>
            </a:pPr>
            <a:r>
              <a:t>Initialization stores the new reference in the variable.</a:t>
            </a:r>
          </a:p>
        </p:txBody>
      </p:sp>
    </p:spTree>
    <p:extLst>
      <p:ext uri="{BB962C8B-B14F-4D97-AF65-F5344CB8AC3E}">
        <p14:creationId xmlns:p14="http://schemas.microsoft.com/office/powerpoint/2010/main" val="157487961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56103B4E-36B9-4A13-904A-C721DFAF310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6205CF26-2B87-409C-AEEA-CFFA89D5781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Inheritance creates the family relationship</a:t>
            </a:r>
          </a:p>
        </p:txBody>
      </p:sp>
      <p:sp>
        <p:nvSpPr>
          <p:cNvPr id="3" name="Google-Shape-534-p58-4">
            <a:extLst xmlns:a="http://schemas.openxmlformats.org/drawingml/2006/main">
              <a:ext uri="{FF2B5EF4-FFF2-40B4-BE49-F238E27FC236}">
                <a16:creationId xmlns:a16="http://schemas.microsoft.com/office/drawing/2014/main" id="{6205A76A-1028-47AF-8D1A-799EB43B562F}"/>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Human owns</a:t>
            </a:r>
          </a:p>
          <a:p xmlns:a="http://schemas.openxmlformats.org/drawingml/2006/main">
            <a:pPr algn="l">
              <a:defRPr sz="2400">
                <a:solidFill>
                  <a:srgbClr val="000000"/>
                </a:solidFill>
                <a:latin typeface="Helvetica Neue"/>
                <a:ea typeface="Helvetica Neue"/>
                <a:cs typeface="Helvetica Neue"/>
              </a:defRPr>
            </a:pPr>
            <a:r>
              <a:t>private name
getName()
useSenses()
communicate(String)</a:t>
            </a:r>
          </a:p>
        </p:txBody>
      </p:sp>
      <p:sp>
        <p:nvSpPr>
          <p:cNvPr id="4" name="Content-Placeholder-1-5">
            <a:extLst xmlns:a="http://schemas.openxmlformats.org/drawingml/2006/main">
              <a:ext uri="{FF2B5EF4-FFF2-40B4-BE49-F238E27FC236}">
                <a16:creationId xmlns:a16="http://schemas.microsoft.com/office/drawing/2014/main" id="{3F7FA80D-0394-4409-9FD2-50FEB7D9A218}"/>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Teacher extends Human</a:t>
            </a:r>
          </a:p>
          <a:p xmlns:a="http://schemas.openxmlformats.org/drawingml/2006/main">
            <a:pPr algn="l">
              <a:defRPr sz="2400">
                <a:solidFill>
                  <a:srgbClr val="000000"/>
                </a:solidFill>
                <a:latin typeface="Helvetica Neue"/>
                <a:ea typeface="Helvetica Neue"/>
                <a:cs typeface="Helvetica Neue"/>
              </a:defRPr>
            </a:pPr>
            <a:r>
              <a:t>inherits accessible behavior
adds teacher behavior</a:t>
            </a:r>
          </a:p>
        </p:txBody>
      </p:sp>
      <p:sp>
        <p:nvSpPr>
          <p:cNvPr id="5" name="Content-Placeholder-2-6">
            <a:extLst xmlns:a="http://schemas.openxmlformats.org/drawingml/2006/main">
              <a:ext uri="{FF2B5EF4-FFF2-40B4-BE49-F238E27FC236}">
                <a16:creationId xmlns:a16="http://schemas.microsoft.com/office/drawing/2014/main" id="{7D121D1C-6731-4516-AA9A-843C77822E8D}"/>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Student extends Human</a:t>
            </a:r>
          </a:p>
          <a:p xmlns:a="http://schemas.openxmlformats.org/drawingml/2006/main">
            <a:pPr algn="l">
              <a:defRPr sz="2400">
                <a:solidFill>
                  <a:srgbClr val="000000"/>
                </a:solidFill>
                <a:latin typeface="Helvetica Neue"/>
                <a:ea typeface="Helvetica Neue"/>
                <a:cs typeface="Helvetica Neue"/>
              </a:defRPr>
            </a:pPr>
            <a:r>
              <a:t>inherits accessible behavior
adds student behavior</a:t>
            </a:r>
          </a:p>
        </p:txBody>
      </p:sp>
      <p:sp>
        <p:nvSpPr>
          <p:cNvPr id="6" name="Hierarchy-Vertical">
            <a:extLst xmlns:a="http://schemas.openxmlformats.org/drawingml/2006/main">
              <a:ext uri="{FF2B5EF4-FFF2-40B4-BE49-F238E27FC236}">
                <a16:creationId xmlns:a16="http://schemas.microsoft.com/office/drawing/2014/main" id="{9DB9DFC5-3DE4-4310-B205-B3183446B973}"/>
              </a:ext>
            </a:extLst>
          </p:cNvPr>
          <p:cNvSpPr>
            <a:spLocks xmlns:a="http://schemas.openxmlformats.org/drawingml/2006/main" noGrp="1"/>
          </p:cNvSpPr>
          <p:nvPr/>
        </p:nvSpPr>
        <p:spPr>
          <a:xfrm xmlns:a="http://schemas.openxmlformats.org/drawingml/2006/main">
            <a:off x="6096000" y="2162175"/>
            <a:ext cx="0" cy="5048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7" name="Hierarchy-Horizontal">
            <a:extLst xmlns:a="http://schemas.openxmlformats.org/drawingml/2006/main">
              <a:ext uri="{FF2B5EF4-FFF2-40B4-BE49-F238E27FC236}">
                <a16:creationId xmlns:a16="http://schemas.microsoft.com/office/drawing/2014/main" id="{54FDDCF8-3BA3-4972-B445-CC82537FDFC7}"/>
              </a:ext>
            </a:extLst>
          </p:cNvPr>
          <p:cNvSpPr>
            <a:spLocks xmlns:a="http://schemas.openxmlformats.org/drawingml/2006/main" noGrp="1"/>
          </p:cNvSpPr>
          <p:nvPr/>
        </p:nvSpPr>
        <p:spPr>
          <a:xfrm xmlns:a="http://schemas.openxmlformats.org/drawingml/2006/main">
            <a:off x="3333750" y="2657475"/>
            <a:ext cx="55245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8" name="Hierarchy-Student-Vertical">
            <a:extLst xmlns:a="http://schemas.openxmlformats.org/drawingml/2006/main">
              <a:ext uri="{FF2B5EF4-FFF2-40B4-BE49-F238E27FC236}">
                <a16:creationId xmlns:a16="http://schemas.microsoft.com/office/drawing/2014/main" id="{43D04D7B-6555-410C-B1E3-B33DEEAD168B}"/>
              </a:ext>
            </a:extLst>
          </p:cNvPr>
          <p:cNvSpPr>
            <a:spLocks xmlns:a="http://schemas.openxmlformats.org/drawingml/2006/main" noGrp="1"/>
          </p:cNvSpPr>
          <p:nvPr/>
        </p:nvSpPr>
        <p:spPr>
          <a:xfrm xmlns:a="http://schemas.openxmlformats.org/drawingml/2006/main">
            <a:off x="3333750" y="2657475"/>
            <a:ext cx="0" cy="2762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9" name="Hierarchy-Teacher-Vertical">
            <a:extLst xmlns:a="http://schemas.openxmlformats.org/drawingml/2006/main">
              <a:ext uri="{FF2B5EF4-FFF2-40B4-BE49-F238E27FC236}">
                <a16:creationId xmlns:a16="http://schemas.microsoft.com/office/drawing/2014/main" id="{8645C817-2381-4738-9441-F571CDD93D9F}"/>
              </a:ext>
            </a:extLst>
          </p:cNvPr>
          <p:cNvSpPr>
            <a:spLocks xmlns:a="http://schemas.openxmlformats.org/drawingml/2006/main" noGrp="1"/>
          </p:cNvSpPr>
          <p:nvPr/>
        </p:nvSpPr>
        <p:spPr>
          <a:xfrm xmlns:a="http://schemas.openxmlformats.org/drawingml/2006/main">
            <a:off x="8858250" y="2657475"/>
            <a:ext cx="0" cy="276225"/>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0" name="Human-Node">
            <a:extLst xmlns:a="http://schemas.openxmlformats.org/drawingml/2006/main">
              <a:ext uri="{FF2B5EF4-FFF2-40B4-BE49-F238E27FC236}">
                <a16:creationId xmlns:a16="http://schemas.microsoft.com/office/drawing/2014/main" id="{F47E1DB3-EDBF-4410-BBC5-4D6EF053AF15}"/>
              </a:ext>
            </a:extLst>
          </p:cNvPr>
          <p:cNvSpPr>
            <a:spLocks xmlns:a="http://schemas.openxmlformats.org/drawingml/2006/main" noGrp="1"/>
          </p:cNvSpPr>
          <p:nvPr/>
        </p:nvSpPr>
        <p:spPr>
          <a:xfrm xmlns:a="http://schemas.openxmlformats.org/drawingml/2006/main">
            <a:off x="4857750" y="1571625"/>
            <a:ext cx="2476500" cy="6096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1" name="Human-Node-Text">
            <a:extLst xmlns:a="http://schemas.openxmlformats.org/drawingml/2006/main">
              <a:ext uri="{FF2B5EF4-FFF2-40B4-BE49-F238E27FC236}">
                <a16:creationId xmlns:a16="http://schemas.microsoft.com/office/drawing/2014/main" id="{F552AAF3-C8D8-4864-BF0E-5B911C1A4D6A}"/>
              </a:ext>
            </a:extLst>
          </p:cNvPr>
          <p:cNvSpPr>
            <a:spLocks xmlns:a="http://schemas.openxmlformats.org/drawingml/2006/main" noGrp="1"/>
          </p:cNvSpPr>
          <p:nvPr/>
        </p:nvSpPr>
        <p:spPr>
          <a:xfrm xmlns:a="http://schemas.openxmlformats.org/drawingml/2006/main">
            <a:off x="4857750" y="16859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Human</a:t>
            </a:r>
          </a:p>
        </p:txBody>
      </p:sp>
      <p:sp>
        <p:nvSpPr>
          <p:cNvPr id="12" name="Student-Node">
            <a:extLst xmlns:a="http://schemas.openxmlformats.org/drawingml/2006/main">
              <a:ext uri="{FF2B5EF4-FFF2-40B4-BE49-F238E27FC236}">
                <a16:creationId xmlns:a16="http://schemas.microsoft.com/office/drawing/2014/main" id="{CDA052F0-7D64-4E34-B4EB-4DF1D68D074C}"/>
              </a:ext>
            </a:extLst>
          </p:cNvPr>
          <p:cNvSpPr>
            <a:spLocks xmlns:a="http://schemas.openxmlformats.org/drawingml/2006/main" noGrp="1"/>
          </p:cNvSpPr>
          <p:nvPr/>
        </p:nvSpPr>
        <p:spPr>
          <a:xfrm xmlns:a="http://schemas.openxmlformats.org/drawingml/2006/main">
            <a:off x="2095500" y="2914650"/>
            <a:ext cx="2476500"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Student-Node-Text">
            <a:extLst xmlns:a="http://schemas.openxmlformats.org/drawingml/2006/main">
              <a:ext uri="{FF2B5EF4-FFF2-40B4-BE49-F238E27FC236}">
                <a16:creationId xmlns:a16="http://schemas.microsoft.com/office/drawing/2014/main" id="{77F33BDE-EC49-4CAA-914D-C8A240CD1E0E}"/>
              </a:ext>
            </a:extLst>
          </p:cNvPr>
          <p:cNvSpPr>
            <a:spLocks xmlns:a="http://schemas.openxmlformats.org/drawingml/2006/main" noGrp="1"/>
          </p:cNvSpPr>
          <p:nvPr/>
        </p:nvSpPr>
        <p:spPr>
          <a:xfrm xmlns:a="http://schemas.openxmlformats.org/drawingml/2006/main">
            <a:off x="2095500" y="3009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Student</a:t>
            </a:r>
          </a:p>
        </p:txBody>
      </p:sp>
      <p:sp>
        <p:nvSpPr>
          <p:cNvPr id="14" name="Teacher-Node">
            <a:extLst xmlns:a="http://schemas.openxmlformats.org/drawingml/2006/main">
              <a:ext uri="{FF2B5EF4-FFF2-40B4-BE49-F238E27FC236}">
                <a16:creationId xmlns:a16="http://schemas.microsoft.com/office/drawing/2014/main" id="{2E3E3314-19BF-414C-A998-4E887D415883}"/>
              </a:ext>
            </a:extLst>
          </p:cNvPr>
          <p:cNvSpPr>
            <a:spLocks xmlns:a="http://schemas.openxmlformats.org/drawingml/2006/main" noGrp="1"/>
          </p:cNvSpPr>
          <p:nvPr/>
        </p:nvSpPr>
        <p:spPr>
          <a:xfrm xmlns:a="http://schemas.openxmlformats.org/drawingml/2006/main">
            <a:off x="7620000" y="2914650"/>
            <a:ext cx="2476500"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5" name="Teacher-Node-Text">
            <a:extLst xmlns:a="http://schemas.openxmlformats.org/drawingml/2006/main">
              <a:ext uri="{FF2B5EF4-FFF2-40B4-BE49-F238E27FC236}">
                <a16:creationId xmlns:a16="http://schemas.microsoft.com/office/drawing/2014/main" id="{3F83FEEC-95DD-459B-A616-0A63885BD0D7}"/>
              </a:ext>
            </a:extLst>
          </p:cNvPr>
          <p:cNvSpPr>
            <a:spLocks xmlns:a="http://schemas.openxmlformats.org/drawingml/2006/main" noGrp="1"/>
          </p:cNvSpPr>
          <p:nvPr/>
        </p:nvSpPr>
        <p:spPr>
          <a:xfrm xmlns:a="http://schemas.openxmlformats.org/drawingml/2006/main">
            <a:off x="7620000" y="3009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Teacher</a:t>
            </a:r>
          </a:p>
        </p:txBody>
      </p:sp>
    </p:spTree>
    <p:extLst>
      <p:ext uri="{BB962C8B-B14F-4D97-AF65-F5344CB8AC3E}">
        <p14:creationId xmlns:p14="http://schemas.microsoft.com/office/powerpoint/2010/main" val="4835058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 name="Google-Shape-532-p58-2">
            <a:extLst xmlns:a="http://schemas.openxmlformats.org/drawingml/2006/main">
              <a:ext uri="{FF2B5EF4-FFF2-40B4-BE49-F238E27FC236}">
                <a16:creationId xmlns:a16="http://schemas.microsoft.com/office/drawing/2014/main" id="{3ADC4FC4-1554-41F5-8D2E-0CFB63D1F8C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918FFA8F-58A2-429E-87A9-BEFA8721CCA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Construction initializes the Human part first</a:t>
            </a:r>
          </a:p>
        </p:txBody>
      </p:sp>
      <p:sp>
        <p:nvSpPr>
          <p:cNvPr id="3" name="Google-Shape-534-p58-4">
            <a:extLst xmlns:a="http://schemas.openxmlformats.org/drawingml/2006/main">
              <a:ext uri="{FF2B5EF4-FFF2-40B4-BE49-F238E27FC236}">
                <a16:creationId xmlns:a16="http://schemas.microsoft.com/office/drawing/2014/main" id="{E6EDEED2-CB72-4DE1-8F9D-068DD0E22A61}"/>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4C0676EE-1011-4094-B1BD-8720E2E295D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Kicker-BEYOND-THE-BASICS-•-JAVA-25">
            <a:extLst xmlns:a="http://schemas.openxmlformats.org/drawingml/2006/main">
              <a:ext uri="{FF2B5EF4-FFF2-40B4-BE49-F238E27FC236}">
                <a16:creationId xmlns:a16="http://schemas.microsoft.com/office/drawing/2014/main" id="{80605E95-7123-41B5-9957-9FFD8BC6621B}"/>
              </a:ext>
            </a:extLst>
          </p:cNvPr>
          <p:cNvSpPr>
            <a:spLocks xmlns:a="http://schemas.openxmlformats.org/drawingml/2006/main" noGrp="1"/>
          </p:cNvSpPr>
          <p:nvPr/>
        </p:nvSpPr>
        <p:spPr>
          <a:xfrm xmlns:a="http://schemas.openxmlformats.org/drawingml/2006/main">
            <a:off x="390525" y="12192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BEYOND THE BASICS • JAVA 25</a:t>
            </a:r>
          </a:p>
        </p:txBody>
      </p:sp>
      <p:sp>
        <p:nvSpPr>
          <p:cNvPr id="6" name="Constructor-Flow-Label">
            <a:extLst xmlns:a="http://schemas.openxmlformats.org/drawingml/2006/main">
              <a:ext uri="{FF2B5EF4-FFF2-40B4-BE49-F238E27FC236}">
                <a16:creationId xmlns:a16="http://schemas.microsoft.com/office/drawing/2014/main" id="{2EAB545A-5AEA-4E78-97DF-0D57C14F3468}"/>
              </a:ext>
            </a:extLst>
          </p:cNvPr>
          <p:cNvSpPr>
            <a:spLocks xmlns:a="http://schemas.openxmlformats.org/drawingml/2006/main" noGrp="1"/>
          </p:cNvSpPr>
          <p:nvPr/>
        </p:nvSpPr>
        <p:spPr>
          <a:xfrm xmlns:a="http://schemas.openxmlformats.org/drawingml/2006/main">
            <a:off x="390525" y="175260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Normal constructor chain</a:t>
            </a:r>
          </a:p>
        </p:txBody>
      </p:sp>
      <p:sp>
        <p:nvSpPr>
          <p:cNvPr id="7" name="Constructor-Step-1-Panel">
            <a:extLst xmlns:a="http://schemas.openxmlformats.org/drawingml/2006/main">
              <a:ext uri="{FF2B5EF4-FFF2-40B4-BE49-F238E27FC236}">
                <a16:creationId xmlns:a16="http://schemas.microsoft.com/office/drawing/2014/main" id="{2FBADA43-28C1-4012-9BA0-AD8B8AC6A630}"/>
              </a:ext>
            </a:extLst>
          </p:cNvPr>
          <p:cNvSpPr>
            <a:spLocks xmlns:a="http://schemas.openxmlformats.org/drawingml/2006/main" noGrp="1"/>
          </p:cNvSpPr>
          <p:nvPr/>
        </p:nvSpPr>
        <p:spPr>
          <a:xfrm xmlns:a="http://schemas.openxmlformats.org/drawingml/2006/main">
            <a:off x="390525" y="2276475"/>
            <a:ext cx="1666875" cy="895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Constructor-Step-1-Title">
            <a:extLst xmlns:a="http://schemas.openxmlformats.org/drawingml/2006/main">
              <a:ext uri="{FF2B5EF4-FFF2-40B4-BE49-F238E27FC236}">
                <a16:creationId xmlns:a16="http://schemas.microsoft.com/office/drawing/2014/main" id="{84353740-3FBC-4D82-B06B-2F635BD93133}"/>
              </a:ext>
            </a:extLst>
          </p:cNvPr>
          <p:cNvSpPr>
            <a:spLocks xmlns:a="http://schemas.openxmlformats.org/drawingml/2006/main" noGrp="1"/>
          </p:cNvSpPr>
          <p:nvPr/>
        </p:nvSpPr>
        <p:spPr>
          <a:xfrm xmlns:a="http://schemas.openxmlformats.org/drawingml/2006/main">
            <a:off x="523875" y="2428875"/>
            <a:ext cx="1400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00000"/>
                </a:solidFill>
                <a:latin typeface="Menlo"/>
                <a:ea typeface="Menlo"/>
                <a:cs typeface="Menlo"/>
              </a:defRPr>
            </a:pPr>
            <a:r>
              <a:rPr sz="1350" b="1">
                <a:solidFill>
                  <a:srgbClr val="000000"/>
                </a:solidFill>
                <a:latin typeface="Menlo"/>
                <a:ea typeface="Menlo"/>
                <a:cs typeface="Menlo"/>
              </a:rPr>
              <a:t>new Student(...)</a:t>
            </a:r>
          </a:p>
        </p:txBody>
      </p:sp>
      <p:sp>
        <p:nvSpPr>
          <p:cNvPr id="9" name="Constructor-Step-1-Detail">
            <a:extLst xmlns:a="http://schemas.openxmlformats.org/drawingml/2006/main">
              <a:ext uri="{FF2B5EF4-FFF2-40B4-BE49-F238E27FC236}">
                <a16:creationId xmlns:a16="http://schemas.microsoft.com/office/drawing/2014/main" id="{647B143F-F2A3-4196-8D01-45AEA32C8233}"/>
              </a:ext>
            </a:extLst>
          </p:cNvPr>
          <p:cNvSpPr>
            <a:spLocks xmlns:a="http://schemas.openxmlformats.org/drawingml/2006/main" noGrp="1"/>
          </p:cNvSpPr>
          <p:nvPr/>
        </p:nvSpPr>
        <p:spPr>
          <a:xfrm xmlns:a="http://schemas.openxmlformats.org/drawingml/2006/main">
            <a:off x="523875" y="2781300"/>
            <a:ext cx="1400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E6470"/>
                </a:solidFill>
                <a:latin typeface="Helvetica Neue"/>
                <a:ea typeface="Helvetica Neue"/>
                <a:cs typeface="Helvetica Neue"/>
              </a:defRPr>
            </a:pPr>
            <a:r>
              <a:rPr sz="1125">
                <a:solidFill>
                  <a:srgbClr val="5E6470"/>
                </a:solidFill>
                <a:latin typeface="Helvetica Neue"/>
                <a:ea typeface="Helvetica Neue"/>
                <a:cs typeface="Helvetica Neue"/>
              </a:rPr>
              <a:t>select Student</a:t>
            </a:r>
          </a:p>
        </p:txBody>
      </p:sp>
      <p:sp>
        <p:nvSpPr>
          <p:cNvPr id="10" name="Constructor-Step-2-Panel">
            <a:extLst xmlns:a="http://schemas.openxmlformats.org/drawingml/2006/main">
              <a:ext uri="{FF2B5EF4-FFF2-40B4-BE49-F238E27FC236}">
                <a16:creationId xmlns:a16="http://schemas.microsoft.com/office/drawing/2014/main" id="{B7FFFF99-2608-468F-A3D6-1221C54F16D8}"/>
              </a:ext>
            </a:extLst>
          </p:cNvPr>
          <p:cNvSpPr>
            <a:spLocks xmlns:a="http://schemas.openxmlformats.org/drawingml/2006/main" noGrp="1"/>
          </p:cNvSpPr>
          <p:nvPr/>
        </p:nvSpPr>
        <p:spPr>
          <a:xfrm xmlns:a="http://schemas.openxmlformats.org/drawingml/2006/main">
            <a:off x="2266950" y="2276475"/>
            <a:ext cx="1666875" cy="8953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1" name="Constructor-Step-2-Title">
            <a:extLst xmlns:a="http://schemas.openxmlformats.org/drawingml/2006/main">
              <a:ext uri="{FF2B5EF4-FFF2-40B4-BE49-F238E27FC236}">
                <a16:creationId xmlns:a16="http://schemas.microsoft.com/office/drawing/2014/main" id="{696C8C2E-EEC1-400A-A9D8-4AA58C6B2495}"/>
              </a:ext>
            </a:extLst>
          </p:cNvPr>
          <p:cNvSpPr>
            <a:spLocks xmlns:a="http://schemas.openxmlformats.org/drawingml/2006/main" noGrp="1"/>
          </p:cNvSpPr>
          <p:nvPr/>
        </p:nvSpPr>
        <p:spPr>
          <a:xfrm xmlns:a="http://schemas.openxmlformats.org/drawingml/2006/main">
            <a:off x="2400300" y="2428875"/>
            <a:ext cx="1400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00000"/>
                </a:solidFill>
                <a:latin typeface="Menlo"/>
                <a:ea typeface="Menlo"/>
                <a:cs typeface="Menlo"/>
              </a:defRPr>
            </a:pPr>
            <a:r>
              <a:rPr sz="1350" b="1">
                <a:solidFill>
                  <a:srgbClr val="000000"/>
                </a:solidFill>
                <a:latin typeface="Menlo"/>
                <a:ea typeface="Menlo"/>
                <a:cs typeface="Menlo"/>
              </a:rPr>
              <a:t>super(name)</a:t>
            </a:r>
          </a:p>
        </p:txBody>
      </p:sp>
      <p:sp>
        <p:nvSpPr>
          <p:cNvPr id="12" name="Constructor-Step-2-Detail">
            <a:extLst xmlns:a="http://schemas.openxmlformats.org/drawingml/2006/main">
              <a:ext uri="{FF2B5EF4-FFF2-40B4-BE49-F238E27FC236}">
                <a16:creationId xmlns:a16="http://schemas.microsoft.com/office/drawing/2014/main" id="{15A880D1-88BD-42E6-80BA-0ADA9145F4C7}"/>
              </a:ext>
            </a:extLst>
          </p:cNvPr>
          <p:cNvSpPr>
            <a:spLocks xmlns:a="http://schemas.openxmlformats.org/drawingml/2006/main" noGrp="1"/>
          </p:cNvSpPr>
          <p:nvPr/>
        </p:nvSpPr>
        <p:spPr>
          <a:xfrm xmlns:a="http://schemas.openxmlformats.org/drawingml/2006/main">
            <a:off x="2400300" y="2781300"/>
            <a:ext cx="1400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E6470"/>
                </a:solidFill>
                <a:latin typeface="Helvetica Neue"/>
                <a:ea typeface="Helvetica Neue"/>
                <a:cs typeface="Helvetica Neue"/>
              </a:defRPr>
            </a:pPr>
            <a:r>
              <a:rPr sz="1125">
                <a:solidFill>
                  <a:srgbClr val="5E6470"/>
                </a:solidFill>
                <a:latin typeface="Helvetica Neue"/>
                <a:ea typeface="Helvetica Neue"/>
                <a:cs typeface="Helvetica Neue"/>
              </a:rPr>
              <a:t>delegate upward</a:t>
            </a:r>
          </a:p>
        </p:txBody>
      </p:sp>
      <p:sp>
        <p:nvSpPr>
          <p:cNvPr id="13" name="Constructor-Step-3-Panel">
            <a:extLst xmlns:a="http://schemas.openxmlformats.org/drawingml/2006/main">
              <a:ext uri="{FF2B5EF4-FFF2-40B4-BE49-F238E27FC236}">
                <a16:creationId xmlns:a16="http://schemas.microsoft.com/office/drawing/2014/main" id="{73CB86C1-ECF6-4C72-AD5C-5FD243F435A0}"/>
              </a:ext>
            </a:extLst>
          </p:cNvPr>
          <p:cNvSpPr>
            <a:spLocks xmlns:a="http://schemas.openxmlformats.org/drawingml/2006/main" noGrp="1"/>
          </p:cNvSpPr>
          <p:nvPr/>
        </p:nvSpPr>
        <p:spPr>
          <a:xfrm xmlns:a="http://schemas.openxmlformats.org/drawingml/2006/main">
            <a:off x="4143375" y="2276475"/>
            <a:ext cx="1666875" cy="895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Constructor-Step-3-Title">
            <a:extLst xmlns:a="http://schemas.openxmlformats.org/drawingml/2006/main">
              <a:ext uri="{FF2B5EF4-FFF2-40B4-BE49-F238E27FC236}">
                <a16:creationId xmlns:a16="http://schemas.microsoft.com/office/drawing/2014/main" id="{990DE582-8C0A-4D6C-9C17-3FC929C3676C}"/>
              </a:ext>
            </a:extLst>
          </p:cNvPr>
          <p:cNvSpPr>
            <a:spLocks xmlns:a="http://schemas.openxmlformats.org/drawingml/2006/main" noGrp="1"/>
          </p:cNvSpPr>
          <p:nvPr/>
        </p:nvSpPr>
        <p:spPr>
          <a:xfrm xmlns:a="http://schemas.openxmlformats.org/drawingml/2006/main">
            <a:off x="4276725" y="2428875"/>
            <a:ext cx="1400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00000"/>
                </a:solidFill>
                <a:latin typeface="Menlo"/>
                <a:ea typeface="Menlo"/>
                <a:cs typeface="Menlo"/>
              </a:defRPr>
            </a:pPr>
            <a:r>
              <a:rPr sz="1350" b="1">
                <a:solidFill>
                  <a:srgbClr val="000000"/>
                </a:solidFill>
                <a:latin typeface="Menlo"/>
                <a:ea typeface="Menlo"/>
                <a:cs typeface="Menlo"/>
              </a:rPr>
              <a:t>Human sets name</a:t>
            </a:r>
          </a:p>
        </p:txBody>
      </p:sp>
      <p:sp>
        <p:nvSpPr>
          <p:cNvPr id="15" name="Constructor-Step-3-Detail">
            <a:extLst xmlns:a="http://schemas.openxmlformats.org/drawingml/2006/main">
              <a:ext uri="{FF2B5EF4-FFF2-40B4-BE49-F238E27FC236}">
                <a16:creationId xmlns:a16="http://schemas.microsoft.com/office/drawing/2014/main" id="{0AFCBB33-AE83-4582-BBD3-9855C2D91B4C}"/>
              </a:ext>
            </a:extLst>
          </p:cNvPr>
          <p:cNvSpPr>
            <a:spLocks xmlns:a="http://schemas.openxmlformats.org/drawingml/2006/main" noGrp="1"/>
          </p:cNvSpPr>
          <p:nvPr/>
        </p:nvSpPr>
        <p:spPr>
          <a:xfrm xmlns:a="http://schemas.openxmlformats.org/drawingml/2006/main">
            <a:off x="4276725" y="2781300"/>
            <a:ext cx="1400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E6470"/>
                </a:solidFill>
                <a:latin typeface="Helvetica Neue"/>
                <a:ea typeface="Helvetica Neue"/>
                <a:cs typeface="Helvetica Neue"/>
              </a:defRPr>
            </a:pPr>
            <a:r>
              <a:rPr sz="1125">
                <a:solidFill>
                  <a:srgbClr val="5E6470"/>
                </a:solidFill>
                <a:latin typeface="Helvetica Neue"/>
                <a:ea typeface="Helvetica Neue"/>
                <a:cs typeface="Helvetica Neue"/>
              </a:rPr>
              <a:t>parent state ready</a:t>
            </a:r>
          </a:p>
        </p:txBody>
      </p:sp>
      <p:sp>
        <p:nvSpPr>
          <p:cNvPr id="16" name="Constructor-Arrow-1">
            <a:extLst xmlns:a="http://schemas.openxmlformats.org/drawingml/2006/main">
              <a:ext uri="{FF2B5EF4-FFF2-40B4-BE49-F238E27FC236}">
                <a16:creationId xmlns:a16="http://schemas.microsoft.com/office/drawing/2014/main" id="{91FD4841-044E-435D-8166-BE46543AC693}"/>
              </a:ext>
            </a:extLst>
          </p:cNvPr>
          <p:cNvSpPr>
            <a:spLocks xmlns:a="http://schemas.openxmlformats.org/drawingml/2006/main" noGrp="1"/>
          </p:cNvSpPr>
          <p:nvPr/>
        </p:nvSpPr>
        <p:spPr>
          <a:xfrm xmlns:a="http://schemas.openxmlformats.org/drawingml/2006/main">
            <a:off x="2047875" y="2543175"/>
            <a:ext cx="228600" cy="2667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7" name="Constructor-Arrow-2">
            <a:extLst xmlns:a="http://schemas.openxmlformats.org/drawingml/2006/main">
              <a:ext uri="{FF2B5EF4-FFF2-40B4-BE49-F238E27FC236}">
                <a16:creationId xmlns:a16="http://schemas.microsoft.com/office/drawing/2014/main" id="{49F2F89D-9D96-4A9C-9A31-A3484D2EC3FF}"/>
              </a:ext>
            </a:extLst>
          </p:cNvPr>
          <p:cNvSpPr>
            <a:spLocks xmlns:a="http://schemas.openxmlformats.org/drawingml/2006/main" noGrp="1"/>
          </p:cNvSpPr>
          <p:nvPr/>
        </p:nvSpPr>
        <p:spPr>
          <a:xfrm xmlns:a="http://schemas.openxmlformats.org/drawingml/2006/main">
            <a:off x="3924300" y="2543175"/>
            <a:ext cx="228600" cy="2667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8" name="Constructor-Explanation">
            <a:extLst xmlns:a="http://schemas.openxmlformats.org/drawingml/2006/main">
              <a:ext uri="{FF2B5EF4-FFF2-40B4-BE49-F238E27FC236}">
                <a16:creationId xmlns:a16="http://schemas.microsoft.com/office/drawing/2014/main" id="{5BF23DD5-BFC5-4F9E-9715-61EA712F8122}"/>
              </a:ext>
            </a:extLst>
          </p:cNvPr>
          <p:cNvSpPr>
            <a:spLocks xmlns:a="http://schemas.openxmlformats.org/drawingml/2006/main" noGrp="1"/>
          </p:cNvSpPr>
          <p:nvPr/>
        </p:nvSpPr>
        <p:spPr>
          <a:xfrm xmlns:a="http://schemas.openxmlformats.org/drawingml/2006/main">
            <a:off x="390525" y="3562350"/>
            <a:ext cx="542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super(name) initializes the Human portion of the same Student object. It does not create a second object.</a:t>
            </a:r>
          </a:p>
        </p:txBody>
      </p:sp>
      <p:sp>
        <p:nvSpPr>
          <p:cNvPr id="19" name="Java25-Constructor-Code-Background">
            <a:extLst xmlns:a="http://schemas.openxmlformats.org/drawingml/2006/main">
              <a:ext uri="{FF2B5EF4-FFF2-40B4-BE49-F238E27FC236}">
                <a16:creationId xmlns:a16="http://schemas.microsoft.com/office/drawing/2014/main" id="{F8D7DF82-40F1-4BDE-94A0-AB995428A03A}"/>
              </a:ext>
            </a:extLst>
          </p:cNvPr>
          <p:cNvSpPr>
            <a:spLocks xmlns:a="http://schemas.openxmlformats.org/drawingml/2006/main" noGrp="1"/>
          </p:cNvSpPr>
          <p:nvPr/>
        </p:nvSpPr>
        <p:spPr>
          <a:xfrm xmlns:a="http://schemas.openxmlformats.org/drawingml/2006/main">
            <a:off x="6257925" y="1733550"/>
            <a:ext cx="5543550" cy="3714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Java25-Constructor-Code-Highlight-2">
            <a:extLst xmlns:a="http://schemas.openxmlformats.org/drawingml/2006/main">
              <a:ext uri="{FF2B5EF4-FFF2-40B4-BE49-F238E27FC236}">
                <a16:creationId xmlns:a16="http://schemas.microsoft.com/office/drawing/2014/main" id="{9FE001A6-7603-4E24-9D0B-CE5D7A9F37FB}"/>
              </a:ext>
            </a:extLst>
          </p:cNvPr>
          <p:cNvSpPr>
            <a:spLocks xmlns:a="http://schemas.openxmlformats.org/drawingml/2006/main" noGrp="1"/>
          </p:cNvSpPr>
          <p:nvPr/>
        </p:nvSpPr>
        <p:spPr>
          <a:xfrm xmlns:a="http://schemas.openxmlformats.org/drawingml/2006/main">
            <a:off x="6343650" y="21621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Java25-Constructor-Code-Highlight-5">
            <a:extLst xmlns:a="http://schemas.openxmlformats.org/drawingml/2006/main">
              <a:ext uri="{FF2B5EF4-FFF2-40B4-BE49-F238E27FC236}">
                <a16:creationId xmlns:a16="http://schemas.microsoft.com/office/drawing/2014/main" id="{467798A4-9E8B-4856-A47E-25F9B2CEB882}"/>
              </a:ext>
            </a:extLst>
          </p:cNvPr>
          <p:cNvSpPr>
            <a:spLocks xmlns:a="http://schemas.openxmlformats.org/drawingml/2006/main" noGrp="1"/>
          </p:cNvSpPr>
          <p:nvPr/>
        </p:nvSpPr>
        <p:spPr>
          <a:xfrm xmlns:a="http://schemas.openxmlformats.org/drawingml/2006/main">
            <a:off x="6343650" y="30765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2" name="Java25-Constructor-Code-Highlight-6">
            <a:extLst xmlns:a="http://schemas.openxmlformats.org/drawingml/2006/main">
              <a:ext uri="{FF2B5EF4-FFF2-40B4-BE49-F238E27FC236}">
                <a16:creationId xmlns:a16="http://schemas.microsoft.com/office/drawing/2014/main" id="{A8EF85EA-1924-43D6-8453-17FEF276C105}"/>
              </a:ext>
            </a:extLst>
          </p:cNvPr>
          <p:cNvSpPr>
            <a:spLocks xmlns:a="http://schemas.openxmlformats.org/drawingml/2006/main" noGrp="1"/>
          </p:cNvSpPr>
          <p:nvPr/>
        </p:nvSpPr>
        <p:spPr>
          <a:xfrm xmlns:a="http://schemas.openxmlformats.org/drawingml/2006/main">
            <a:off x="6343650" y="338137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Java25-Constructor-Code">
            <a:extLst xmlns:a="http://schemas.openxmlformats.org/drawingml/2006/main">
              <a:ext uri="{FF2B5EF4-FFF2-40B4-BE49-F238E27FC236}">
                <a16:creationId xmlns:a16="http://schemas.microsoft.com/office/drawing/2014/main" id="{3D8D1430-AC2F-4239-A343-8CDC27231AB0}"/>
              </a:ext>
            </a:extLst>
          </p:cNvPr>
          <p:cNvSpPr>
            <a:spLocks xmlns:a="http://schemas.openxmlformats.org/drawingml/2006/main" noGrp="1"/>
          </p:cNvSpPr>
          <p:nvPr/>
        </p:nvSpPr>
        <p:spPr>
          <a:xfrm xmlns:a="http://schemas.openxmlformats.org/drawingml/2006/main">
            <a:off x="6410325" y="1847850"/>
            <a:ext cx="52387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Student(String name)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if</a:t>
            </a:r>
            <a:r>
              <a:rPr sz="1388">
                <a:solidFill>
                  <a:srgbClr val="000000"/>
                </a:solidFill>
                <a:latin typeface="Menlo"/>
                <a:ea typeface="Menlo"/>
                <a:cs typeface="Menlo"/>
              </a:rPr>
              <a:t> (name == null || name.isBlank())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throw new</a:t>
            </a:r>
            <a:r>
              <a:rPr sz="1388">
                <a:solidFill>
                  <a:srgbClr val="000000"/>
                </a:solidFill>
                <a:latin typeface="Menlo"/>
                <a:ea typeface="Menlo"/>
                <a:cs typeface="Menlo"/>
              </a:rPr>
              <a:t> IllegalArgumentException();</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String normalized = name.strip();</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    </a:t>
            </a:r>
            <a:r>
              <a:rPr sz="1388" b="1">
                <a:solidFill>
                  <a:srgbClr val="000000"/>
                </a:solidFill>
                <a:latin typeface="Menlo"/>
                <a:ea typeface="Menlo"/>
                <a:cs typeface="Menlo"/>
              </a:rPr>
              <a:t>super</a:t>
            </a:r>
            <a:r>
              <a:rPr sz="1388">
                <a:solidFill>
                  <a:srgbClr val="000000"/>
                </a:solidFill>
                <a:latin typeface="Menlo"/>
                <a:ea typeface="Menlo"/>
                <a:cs typeface="Menlo"/>
              </a:rPr>
              <a:t>(normalized);</a:t>
            </a:r>
          </a:p>
          <a:p xmlns:a="http://schemas.openxmlformats.org/drawingml/2006/main">
            <a:pPr>
              <a:lnSpc>
                <a:spcPct val="92000"/>
              </a:lnSpc>
              <a:buNone/>
              <a:defRPr sz="1388">
                <a:solidFill>
                  <a:srgbClr val="000000"/>
                </a:solidFill>
                <a:latin typeface="Menlo"/>
                <a:ea typeface="Menlo"/>
                <a:cs typeface="Menlo"/>
              </a:defRPr>
            </a:pPr>
            <a:r>
              <a:rPr sz="1388">
                <a:solidFill>
                  <a:srgbClr val="000000"/>
                </a:solidFill>
                <a:latin typeface="Menlo"/>
                <a:ea typeface="Menlo"/>
                <a:cs typeface="Menlo"/>
              </a:rPr>
              <a:t>}</a:t>
            </a:r>
          </a:p>
        </p:txBody>
      </p:sp>
      <p:sp>
        <p:nvSpPr>
          <p:cNvPr id="24" name="Java25-Research-Note">
            <a:extLst xmlns:a="http://schemas.openxmlformats.org/drawingml/2006/main">
              <a:ext uri="{FF2B5EF4-FFF2-40B4-BE49-F238E27FC236}">
                <a16:creationId xmlns:a16="http://schemas.microsoft.com/office/drawing/2014/main" id="{3D621C23-76A1-4EA5-8BB6-6FDCFD52EFB2}"/>
              </a:ext>
            </a:extLst>
          </p:cNvPr>
          <p:cNvSpPr>
            <a:spLocks xmlns:a="http://schemas.openxmlformats.org/drawingml/2006/main" noGrp="1"/>
          </p:cNvSpPr>
          <p:nvPr/>
        </p:nvSpPr>
        <p:spPr>
          <a:xfrm xmlns:a="http://schemas.openxmlformats.org/drawingml/2006/main">
            <a:off x="6257925" y="5619750"/>
            <a:ext cx="554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Java 25 permits restricted validation and preparation before super(...).</a:t>
            </a:r>
          </a:p>
        </p:txBody>
      </p:sp>
    </p:spTree>
    <p:extLst>
      <p:ext uri="{BB962C8B-B14F-4D97-AF65-F5344CB8AC3E}">
        <p14:creationId xmlns:p14="http://schemas.microsoft.com/office/powerpoint/2010/main" val="164004358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E1897E5A-AA42-4F09-8C66-2CE2B81F3BE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3C8FD5D5-4D32-4AEC-88A9-F7F27481220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Subclasses can reuse, replace, and add</a:t>
            </a:r>
          </a:p>
        </p:txBody>
      </p:sp>
      <p:sp>
        <p:nvSpPr>
          <p:cNvPr id="3" name="Google-Shape-534-p58-4">
            <a:extLst xmlns:a="http://schemas.openxmlformats.org/drawingml/2006/main">
              <a:ext uri="{FF2B5EF4-FFF2-40B4-BE49-F238E27FC236}">
                <a16:creationId xmlns:a16="http://schemas.microsoft.com/office/drawing/2014/main" id="{7A0A5E68-ED64-45DA-8721-91F504A5C84A}"/>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REUSE</a:t>
            </a:r>
          </a:p>
          <a:p xmlns:a="http://schemas.openxmlformats.org/drawingml/2006/main">
            <a:pPr algn="l">
              <a:defRPr sz="2400">
                <a:solidFill>
                  <a:srgbClr val="000000"/>
                </a:solidFill>
                <a:latin typeface="Helvetica Neue"/>
                <a:ea typeface="Helvetica Neue"/>
                <a:cs typeface="Helvetica Neue"/>
              </a:defRPr>
            </a:pPr>
            <a:r>
              <a:t>useSenses()
Inherited unchanged from Human.</a:t>
            </a:r>
          </a:p>
        </p:txBody>
      </p:sp>
      <p:sp>
        <p:nvSpPr>
          <p:cNvPr id="4" name="Content-Placeholder-1-5">
            <a:extLst xmlns:a="http://schemas.openxmlformats.org/drawingml/2006/main">
              <a:ext uri="{FF2B5EF4-FFF2-40B4-BE49-F238E27FC236}">
                <a16:creationId xmlns:a16="http://schemas.microsoft.com/office/drawing/2014/main" id="{C803B702-1455-4FF0-BA5D-0EB615228A87}"/>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ADD</a:t>
            </a:r>
          </a:p>
          <a:p xmlns:a="http://schemas.openxmlformats.org/drawingml/2006/main">
            <a:pPr algn="l">
              <a:defRPr sz="2400">
                <a:solidFill>
                  <a:srgbClr val="000000"/>
                </a:solidFill>
                <a:latin typeface="Helvetica Neue"/>
                <a:ea typeface="Helvetica Neue"/>
                <a:cs typeface="Helvetica Neue"/>
              </a:defRPr>
            </a:pPr>
            <a:r>
              <a:t>Student: askQuestion(), shareIdea()
Teacher: explainConcept(), answerQuestion()</a:t>
            </a:r>
          </a:p>
        </p:txBody>
      </p:sp>
      <p:sp>
        <p:nvSpPr>
          <p:cNvPr id="5" name="Content-Placeholder-2-6">
            <a:extLst xmlns:a="http://schemas.openxmlformats.org/drawingml/2006/main">
              <a:ext uri="{FF2B5EF4-FFF2-40B4-BE49-F238E27FC236}">
                <a16:creationId xmlns:a16="http://schemas.microsoft.com/office/drawing/2014/main" id="{E615411F-61C7-4A5D-9E1F-5EDA78035A4A}"/>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REPLACE</a:t>
            </a:r>
          </a:p>
          <a:p xmlns:a="http://schemas.openxmlformats.org/drawingml/2006/main">
            <a:pPr algn="l">
              <a:defRPr sz="2400">
                <a:solidFill>
                  <a:srgbClr val="000000"/>
                </a:solidFill>
                <a:latin typeface="Helvetica Neue"/>
                <a:ea typeface="Helvetica Neue"/>
                <a:cs typeface="Helvetica Neue"/>
              </a:defRPr>
            </a:pPr>
            <a:r>
              <a:t>communicate(String)
Overridden with the same signature.</a:t>
            </a:r>
          </a:p>
        </p:txBody>
      </p:sp>
      <p:sp>
        <p:nvSpPr>
          <p:cNvPr id="6" name="Reuse-Replace-Add-Lead">
            <a:extLst xmlns:a="http://schemas.openxmlformats.org/drawingml/2006/main">
              <a:ext uri="{FF2B5EF4-FFF2-40B4-BE49-F238E27FC236}">
                <a16:creationId xmlns:a16="http://schemas.microsoft.com/office/drawing/2014/main" id="{4001C5F9-ABE8-4CC3-8E4E-4E6A0FAD46F3}"/>
              </a:ext>
            </a:extLst>
          </p:cNvPr>
          <p:cNvSpPr>
            <a:spLocks xmlns:a="http://schemas.openxmlformats.org/drawingml/2006/main" noGrp="1"/>
          </p:cNvSpPr>
          <p:nvPr/>
        </p:nvSpPr>
        <p:spPr>
          <a:xfrm xmlns:a="http://schemas.openxmlformats.org/drawingml/2006/main">
            <a:off x="390525" y="18097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One subclass can do all three.</a:t>
            </a:r>
          </a:p>
        </p:txBody>
      </p:sp>
      <p:sp>
        <p:nvSpPr>
          <p:cNvPr id="7" name="Reuse-Replace-Add-Detail">
            <a:extLst xmlns:a="http://schemas.openxmlformats.org/drawingml/2006/main">
              <a:ext uri="{FF2B5EF4-FFF2-40B4-BE49-F238E27FC236}">
                <a16:creationId xmlns:a16="http://schemas.microsoft.com/office/drawing/2014/main" id="{05B93D58-8101-4113-8379-5B8839510778}"/>
              </a:ext>
            </a:extLst>
          </p:cNvPr>
          <p:cNvSpPr>
            <a:spLocks xmlns:a="http://schemas.openxmlformats.org/drawingml/2006/main" noGrp="1"/>
          </p:cNvSpPr>
          <p:nvPr/>
        </p:nvSpPr>
        <p:spPr>
          <a:xfrm xmlns:a="http://schemas.openxmlformats.org/drawingml/2006/main">
            <a:off x="390525" y="2647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5E6470"/>
                </a:solidFill>
                <a:latin typeface="Helvetica Neue"/>
                <a:ea typeface="Helvetica Neue"/>
                <a:cs typeface="Helvetica Neue"/>
              </a:defRPr>
            </a:pPr>
            <a:r>
              <a:rPr sz="1725">
                <a:solidFill>
                  <a:srgbClr val="5E6470"/>
                </a:solidFill>
                <a:latin typeface="Helvetica Neue"/>
                <a:ea typeface="Helvetica Neue"/>
                <a:cs typeface="Helvetica Neue"/>
              </a:rPr>
              <a:t>@Override lets the compiler verify that communicate(String) really matches an inherited method.</a:t>
            </a:r>
          </a:p>
        </p:txBody>
      </p:sp>
    </p:spTree>
    <p:extLst>
      <p:ext uri="{BB962C8B-B14F-4D97-AF65-F5344CB8AC3E}">
        <p14:creationId xmlns:p14="http://schemas.microsoft.com/office/powerpoint/2010/main" val="3402544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F491057-FB0D-442B-99AB-89050D339E3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Title-10-3">
            <a:extLst xmlns:a="http://schemas.openxmlformats.org/drawingml/2006/main">
              <a:ext uri="{FF2B5EF4-FFF2-40B4-BE49-F238E27FC236}">
                <a16:creationId xmlns:a16="http://schemas.microsoft.com/office/drawing/2014/main" id="{A2D6CE62-A6B9-451F-A341-DDB17C2BF7F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Overriding is the bridge between them</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B9575098-0E38-486F-B00C-D24D16394C5A}"/>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9354811F-7468-4BAB-AAE0-8DF8EC899CC5}"/>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3FEB8837-6BE6-433C-BD19-1345DDAE7E45}"/>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E03822D-43F0-491E-8AD4-D18B9A6A15CC}"/>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RELATIONSHIP</a:t>
            </a:r>
          </a:p>
        </p:txBody>
      </p:sp>
      <p:sp>
        <p:nvSpPr>
          <p:cNvPr id="8" name="Content-Placeholder-15-9">
            <a:extLst xmlns:a="http://schemas.openxmlformats.org/drawingml/2006/main">
              <a:ext uri="{FF2B5EF4-FFF2-40B4-BE49-F238E27FC236}">
                <a16:creationId xmlns:a16="http://schemas.microsoft.com/office/drawing/2014/main" id="{BD4EEEE4-1CB1-4508-A302-CACE52AA826B}"/>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VERSIONS</a:t>
            </a:r>
          </a:p>
        </p:txBody>
      </p:sp>
      <p:sp>
        <p:nvSpPr>
          <p:cNvPr id="9" name="Content-Placeholder-15-10">
            <a:extLst xmlns:a="http://schemas.openxmlformats.org/drawingml/2006/main">
              <a:ext uri="{FF2B5EF4-FFF2-40B4-BE49-F238E27FC236}">
                <a16:creationId xmlns:a16="http://schemas.microsoft.com/office/drawing/2014/main" id="{3A215FFE-9009-4FA5-9B59-53D420BED46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RUNTIME USE</a:t>
            </a:r>
          </a:p>
        </p:txBody>
      </p:sp>
      <p:sp>
        <p:nvSpPr>
          <p:cNvPr id="10" name="Text-Placeholder-16-11">
            <a:extLst xmlns:a="http://schemas.openxmlformats.org/drawingml/2006/main">
              <a:ext uri="{FF2B5EF4-FFF2-40B4-BE49-F238E27FC236}">
                <a16:creationId xmlns:a16="http://schemas.microsoft.com/office/drawing/2014/main" id="{7479EB75-653B-4E8D-B8B1-57FC2A3EA37E}"/>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@Override</a:t>
            </a:r>
          </a:p>
          <a:p xmlns:a="http://schemas.openxmlformats.org/drawingml/2006/main">
            <a:pPr algn="l">
              <a:defRPr sz="2400">
                <a:solidFill>
                  <a:srgbClr val="000000"/>
                </a:solidFill>
                <a:latin typeface="Helvetica Neue"/>
                <a:ea typeface="Helvetica Neue"/>
                <a:cs typeface="Helvetica Neue"/>
              </a:defRPr>
            </a:pPr>
            <a:r>
              <a:t>Each subtype supplies its own communicate body.</a:t>
            </a:r>
          </a:p>
        </p:txBody>
      </p:sp>
      <p:sp>
        <p:nvSpPr>
          <p:cNvPr id="11" name="Text-Placeholder-16-12">
            <a:extLst xmlns:a="http://schemas.openxmlformats.org/drawingml/2006/main">
              <a:ext uri="{FF2B5EF4-FFF2-40B4-BE49-F238E27FC236}">
                <a16:creationId xmlns:a16="http://schemas.microsoft.com/office/drawing/2014/main" id="{440499F1-B675-46A0-AACA-1A0393C2C927}"/>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extends</a:t>
            </a:r>
          </a:p>
          <a:p xmlns:a="http://schemas.openxmlformats.org/drawingml/2006/main">
            <a:pPr algn="l">
              <a:defRPr sz="2400">
                <a:solidFill>
                  <a:srgbClr val="000000"/>
                </a:solidFill>
                <a:latin typeface="Helvetica Neue"/>
                <a:ea typeface="Helvetica Neue"/>
                <a:cs typeface="Helvetica Neue"/>
              </a:defRPr>
            </a:pPr>
            <a:r>
              <a:t>Student and Teacher become Human subtypes.</a:t>
            </a:r>
          </a:p>
        </p:txBody>
      </p:sp>
      <p:sp>
        <p:nvSpPr>
          <p:cNvPr id="12" name="Text-Placeholder-16-13">
            <a:extLst xmlns:a="http://schemas.openxmlformats.org/drawingml/2006/main">
              <a:ext uri="{FF2B5EF4-FFF2-40B4-BE49-F238E27FC236}">
                <a16:creationId xmlns:a16="http://schemas.microsoft.com/office/drawing/2014/main" id="{90F06EA4-D726-44A9-9301-102A11EFD9F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person.communicate(...)</a:t>
            </a:r>
          </a:p>
          <a:p xmlns:a="http://schemas.openxmlformats.org/drawingml/2006/main">
            <a:pPr algn="l">
              <a:defRPr sz="2400">
                <a:solidFill>
                  <a:srgbClr val="000000"/>
                </a:solidFill>
                <a:latin typeface="Helvetica Neue"/>
                <a:ea typeface="Helvetica Neue"/>
                <a:cs typeface="Helvetica Neue"/>
              </a:defRPr>
            </a:pPr>
            <a:r>
              <a:t>The runtime object determines which override runs.</a:t>
            </a:r>
          </a:p>
        </p:txBody>
      </p:sp>
    </p:spTree>
    <p:extLst>
      <p:ext uri="{BB962C8B-B14F-4D97-AF65-F5344CB8AC3E}">
        <p14:creationId xmlns:p14="http://schemas.microsoft.com/office/powerpoint/2010/main" val="11702680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68985A72-A3C6-4871-86A8-E5F5DF20E41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68ACFCE6-6A1B-431A-B6E5-9C775FE6DAAD}"/>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compiler checks one type; the JVM sees another</a:t>
            </a:r>
          </a:p>
        </p:txBody>
      </p:sp>
      <p:sp>
        <p:nvSpPr>
          <p:cNvPr id="3" name="Rounded-Rectangle-1-4">
            <a:extLst xmlns:a="http://schemas.openxmlformats.org/drawingml/2006/main">
              <a:ext uri="{FF2B5EF4-FFF2-40B4-BE49-F238E27FC236}">
                <a16:creationId xmlns:a16="http://schemas.microsoft.com/office/drawing/2014/main" id="{A7F5EF80-81F8-467B-8B77-53E8FBAF45D7}"/>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9F70685F-24D7-413B-8C5D-3C567875DF92}"/>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Compiler
Human API</a:t>
            </a:r>
          </a:p>
        </p:txBody>
      </p:sp>
      <p:sp>
        <p:nvSpPr>
          <p:cNvPr id="5" name="Content-Placeholder-15-6">
            <a:extLst xmlns:a="http://schemas.openxmlformats.org/drawingml/2006/main">
              <a:ext uri="{FF2B5EF4-FFF2-40B4-BE49-F238E27FC236}">
                <a16:creationId xmlns:a16="http://schemas.microsoft.com/office/drawing/2014/main" id="{3B04E7C6-C87D-4712-9EA0-355EA4741CC9}"/>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useSenses()  ✓</a:t>
            </a:r>
          </a:p>
          <a:p xmlns:a="http://schemas.openxmlformats.org/drawingml/2006/main">
            <a:pPr algn="l">
              <a:defRPr sz="1600">
                <a:solidFill>
                  <a:srgbClr val="000000"/>
                </a:solidFill>
                <a:latin typeface="Helvetica Neue"/>
                <a:ea typeface="Helvetica Neue"/>
                <a:cs typeface="Helvetica Neue"/>
              </a:defRPr>
            </a:pPr>
            <a:r>
              <a:t>communicate(...)  ✓</a:t>
            </a:r>
          </a:p>
          <a:p xmlns:a="http://schemas.openxmlformats.org/drawingml/2006/main">
            <a:pPr algn="l">
              <a:defRPr sz="1600">
                <a:solidFill>
                  <a:srgbClr val="000000"/>
                </a:solidFill>
                <a:latin typeface="Helvetica Neue"/>
                <a:ea typeface="Helvetica Neue"/>
                <a:cs typeface="Helvetica Neue"/>
              </a:defRPr>
            </a:pPr>
            <a:r>
              <a:t>raiseHand()  ✕</a:t>
            </a:r>
          </a:p>
        </p:txBody>
      </p:sp>
      <p:sp>
        <p:nvSpPr>
          <p:cNvPr id="6" name="Rounded-Rectangle-7-7">
            <a:extLst xmlns:a="http://schemas.openxmlformats.org/drawingml/2006/main">
              <a:ext uri="{FF2B5EF4-FFF2-40B4-BE49-F238E27FC236}">
                <a16:creationId xmlns:a16="http://schemas.microsoft.com/office/drawing/2014/main" id="{168C8BEF-F0A5-4D9D-BB05-8D0853EDB99A}"/>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348781A2-5AE5-411A-B9E9-D6C84000CBC5}"/>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Runtime
Student object</a:t>
            </a:r>
          </a:p>
        </p:txBody>
      </p:sp>
      <p:sp>
        <p:nvSpPr>
          <p:cNvPr id="8" name="Content-Placeholder-15-9">
            <a:extLst xmlns:a="http://schemas.openxmlformats.org/drawingml/2006/main">
              <a:ext uri="{FF2B5EF4-FFF2-40B4-BE49-F238E27FC236}">
                <a16:creationId xmlns:a16="http://schemas.microsoft.com/office/drawing/2014/main" id="{8043176E-1F14-4ACD-8577-9999D2A2CDFA}"/>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communicate → Student</a:t>
            </a:r>
          </a:p>
          <a:p xmlns:a="http://schemas.openxmlformats.org/drawingml/2006/main">
            <a:pPr algn="l">
              <a:defRPr sz="1600">
                <a:solidFill>
                  <a:srgbClr val="000000"/>
                </a:solidFill>
                <a:latin typeface="Helvetica Neue"/>
                <a:ea typeface="Helvetica Neue"/>
                <a:cs typeface="Helvetica Neue"/>
              </a:defRPr>
            </a:pPr>
            <a:r>
              <a:t>useSenses → Human</a:t>
            </a:r>
          </a:p>
          <a:p xmlns:a="http://schemas.openxmlformats.org/drawingml/2006/main">
            <a:pPr algn="l">
              <a:defRPr sz="1600">
                <a:solidFill>
                  <a:srgbClr val="000000"/>
                </a:solidFill>
                <a:latin typeface="Helvetica Neue"/>
                <a:ea typeface="Helvetica Neue"/>
                <a:cs typeface="Helvetica Neue"/>
              </a:defRPr>
            </a:pPr>
            <a:r>
              <a:t>actual class → Student</a:t>
            </a:r>
          </a:p>
        </p:txBody>
      </p:sp>
      <p:sp>
        <p:nvSpPr>
          <p:cNvPr id="9" name="Content-Placeholder-15-10">
            <a:extLst xmlns:a="http://schemas.openxmlformats.org/drawingml/2006/main">
              <a:ext uri="{FF2B5EF4-FFF2-40B4-BE49-F238E27FC236}">
                <a16:creationId xmlns:a16="http://schemas.microsoft.com/office/drawing/2014/main" id="{9E01F6E7-F005-4164-9D17-F70541E174CC}"/>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
        <p:nvSpPr>
          <p:cNvPr id="10" name="Prediction-Code-Background">
            <a:extLst xmlns:a="http://schemas.openxmlformats.org/drawingml/2006/main">
              <a:ext uri="{FF2B5EF4-FFF2-40B4-BE49-F238E27FC236}">
                <a16:creationId xmlns:a16="http://schemas.microsoft.com/office/drawing/2014/main" id="{E337B899-9910-4596-BCBB-082693709EED}"/>
              </a:ext>
            </a:extLst>
          </p:cNvPr>
          <p:cNvSpPr>
            <a:spLocks xmlns:a="http://schemas.openxmlformats.org/drawingml/2006/main" noGrp="1"/>
          </p:cNvSpPr>
          <p:nvPr/>
        </p:nvSpPr>
        <p:spPr>
          <a:xfrm xmlns:a="http://schemas.openxmlformats.org/drawingml/2006/main">
            <a:off x="400050" y="1238250"/>
            <a:ext cx="11401425" cy="15621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Prediction-Code-Highlight-1">
            <a:extLst xmlns:a="http://schemas.openxmlformats.org/drawingml/2006/main">
              <a:ext uri="{FF2B5EF4-FFF2-40B4-BE49-F238E27FC236}">
                <a16:creationId xmlns:a16="http://schemas.microsoft.com/office/drawing/2014/main" id="{50B7A975-6106-4343-AB58-0277B7061DA8}"/>
              </a:ext>
            </a:extLst>
          </p:cNvPr>
          <p:cNvSpPr>
            <a:spLocks xmlns:a="http://schemas.openxmlformats.org/drawingml/2006/main" noGrp="1"/>
          </p:cNvSpPr>
          <p:nvPr/>
        </p:nvSpPr>
        <p:spPr>
          <a:xfrm xmlns:a="http://schemas.openxmlformats.org/drawingml/2006/main">
            <a:off x="485775" y="136207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Prediction-Code-Highlight-3">
            <a:extLst xmlns:a="http://schemas.openxmlformats.org/drawingml/2006/main">
              <a:ext uri="{FF2B5EF4-FFF2-40B4-BE49-F238E27FC236}">
                <a16:creationId xmlns:a16="http://schemas.microsoft.com/office/drawing/2014/main" id="{FDE29725-7C52-4D0A-AE1A-E8CE9406F221}"/>
              </a:ext>
            </a:extLst>
          </p:cNvPr>
          <p:cNvSpPr>
            <a:spLocks xmlns:a="http://schemas.openxmlformats.org/drawingml/2006/main" noGrp="1"/>
          </p:cNvSpPr>
          <p:nvPr/>
        </p:nvSpPr>
        <p:spPr>
          <a:xfrm xmlns:a="http://schemas.openxmlformats.org/drawingml/2006/main">
            <a:off x="485775" y="200977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Prediction-Code-Highlight-4">
            <a:extLst xmlns:a="http://schemas.openxmlformats.org/drawingml/2006/main">
              <a:ext uri="{FF2B5EF4-FFF2-40B4-BE49-F238E27FC236}">
                <a16:creationId xmlns:a16="http://schemas.microsoft.com/office/drawing/2014/main" id="{13C21412-D326-488A-8915-50CB0FE9A664}"/>
              </a:ext>
            </a:extLst>
          </p:cNvPr>
          <p:cNvSpPr>
            <a:spLocks xmlns:a="http://schemas.openxmlformats.org/drawingml/2006/main" noGrp="1"/>
          </p:cNvSpPr>
          <p:nvPr/>
        </p:nvSpPr>
        <p:spPr>
          <a:xfrm xmlns:a="http://schemas.openxmlformats.org/drawingml/2006/main">
            <a:off x="485775" y="2333625"/>
            <a:ext cx="11229975" cy="3143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Prediction-Code">
            <a:extLst xmlns:a="http://schemas.openxmlformats.org/drawingml/2006/main">
              <a:ext uri="{FF2B5EF4-FFF2-40B4-BE49-F238E27FC236}">
                <a16:creationId xmlns:a16="http://schemas.microsoft.com/office/drawing/2014/main" id="{17F79EE2-7CC3-449E-897C-9B28F2888CBC}"/>
              </a:ext>
            </a:extLst>
          </p:cNvPr>
          <p:cNvSpPr>
            <a:spLocks xmlns:a="http://schemas.openxmlformats.org/drawingml/2006/main" noGrp="1"/>
          </p:cNvSpPr>
          <p:nvPr/>
        </p:nvSpPr>
        <p:spPr>
          <a:xfrm xmlns:a="http://schemas.openxmlformats.org/drawingml/2006/main">
            <a:off x="552450" y="1352550"/>
            <a:ext cx="110966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Human person = </a:t>
            </a:r>
            <a:r>
              <a:rPr sz="1650" b="1">
                <a:solidFill>
                  <a:srgbClr val="000000"/>
                </a:solidFill>
                <a:latin typeface="Menlo"/>
                <a:ea typeface="Menlo"/>
                <a:cs typeface="Menlo"/>
              </a:rPr>
              <a:t>new</a:t>
            </a:r>
            <a:r>
              <a:rPr sz="1650">
                <a:solidFill>
                  <a:srgbClr val="000000"/>
                </a:solidFill>
                <a:latin typeface="Menlo"/>
                <a:ea typeface="Menlo"/>
                <a:cs typeface="Menlo"/>
              </a:rPr>
              <a:t> Student("Zub");</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person.useSenses();</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person.communicate("I have an idea.");</a:t>
            </a:r>
          </a:p>
          <a:p xmlns:a="http://schemas.openxmlformats.org/drawingml/2006/main">
            <a:pPr>
              <a:lnSpc>
                <a:spcPct val="92000"/>
              </a:lnSpc>
              <a:buNone/>
              <a:defRPr sz="1650">
                <a:solidFill>
                  <a:srgbClr val="000000"/>
                </a:solidFill>
                <a:latin typeface="Menlo"/>
                <a:ea typeface="Menlo"/>
                <a:cs typeface="Menlo"/>
              </a:defRPr>
            </a:pPr>
            <a:r>
              <a:rPr sz="1650">
                <a:solidFill>
                  <a:srgbClr val="000000"/>
                </a:solidFill>
                <a:latin typeface="Menlo"/>
                <a:ea typeface="Menlo"/>
                <a:cs typeface="Menlo"/>
              </a:rPr>
              <a:t>person.raiseHand(); </a:t>
            </a:r>
            <a:r>
              <a:rPr sz="1650" i="1">
                <a:solidFill>
                  <a:srgbClr val="000000"/>
                </a:solidFill>
                <a:latin typeface="Menlo"/>
                <a:ea typeface="Menlo"/>
                <a:cs typeface="Menlo"/>
              </a:rPr>
              <a:t>// compile or error?</a:t>
            </a:r>
          </a:p>
        </p:txBody>
      </p:sp>
    </p:spTree>
    <p:extLst>
      <p:ext uri="{BB962C8B-B14F-4D97-AF65-F5344CB8AC3E}">
        <p14:creationId xmlns:p14="http://schemas.microsoft.com/office/powerpoint/2010/main" val="12016781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38620FCB-F4BC-4601-A988-69B50480DAD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BBF947B5-06BA-423D-AAAE-A1094ABBFA9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call takes two forms</a:t>
            </a:r>
          </a:p>
        </p:txBody>
      </p:sp>
      <p:sp>
        <p:nvSpPr>
          <p:cNvPr id="3" name="Google-Shape-534-p58-4">
            <a:extLst xmlns:a="http://schemas.openxmlformats.org/drawingml/2006/main">
              <a:ext uri="{FF2B5EF4-FFF2-40B4-BE49-F238E27FC236}">
                <a16:creationId xmlns:a16="http://schemas.microsoft.com/office/drawing/2014/main" id="{C8E13964-184D-4BB9-BA8B-4BD294608EF3}"/>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4" name="Content-Placeholder-3-5">
            <a:extLst xmlns:a="http://schemas.openxmlformats.org/drawingml/2006/main">
              <a:ext uri="{FF2B5EF4-FFF2-40B4-BE49-F238E27FC236}">
                <a16:creationId xmlns:a16="http://schemas.microsoft.com/office/drawing/2014/main" id="{43789572-90E2-41AF-90DC-78B110CE6822}"/>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a:p xmlns:a="http://schemas.openxmlformats.org/drawingml/2006/main">
            <a:pPr algn="l">
              <a:defRPr sz="2400">
                <a:solidFill>
                  <a:srgbClr val="000000"/>
                </a:solidFill>
                <a:latin typeface="Helvetica Neue"/>
                <a:ea typeface="Helvetica Neue"/>
                <a:cs typeface="Helvetica Neue"/>
              </a:defRPr>
            </a:pPr>
            <a:r>
              <a:t/>
            </a:r>
          </a:p>
        </p:txBody>
      </p:sp>
      <p:sp>
        <p:nvSpPr>
          <p:cNvPr id="5" name="Kicker-LIVE-DEMO-•-PREDICT-BEFORE-RUNNING">
            <a:extLst xmlns:a="http://schemas.openxmlformats.org/drawingml/2006/main">
              <a:ext uri="{FF2B5EF4-FFF2-40B4-BE49-F238E27FC236}">
                <a16:creationId xmlns:a16="http://schemas.microsoft.com/office/drawing/2014/main" id="{7E8AED9E-A058-4907-BF92-872B19705553}"/>
              </a:ext>
            </a:extLst>
          </p:cNvPr>
          <p:cNvSpPr>
            <a:spLocks xmlns:a="http://schemas.openxmlformats.org/drawingml/2006/main" noGrp="1"/>
          </p:cNvSpPr>
          <p:nvPr/>
        </p:nvSpPr>
        <p:spPr>
          <a:xfrm xmlns:a="http://schemas.openxmlformats.org/drawingml/2006/main">
            <a:off x="390525" y="12192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LIVE DEMO • PREDICT BEFORE RUNNING</a:t>
            </a:r>
          </a:p>
        </p:txBody>
      </p:sp>
      <p:sp>
        <p:nvSpPr>
          <p:cNvPr id="6" name="Live-Demo-Code-Background">
            <a:extLst xmlns:a="http://schemas.openxmlformats.org/drawingml/2006/main">
              <a:ext uri="{FF2B5EF4-FFF2-40B4-BE49-F238E27FC236}">
                <a16:creationId xmlns:a16="http://schemas.microsoft.com/office/drawing/2014/main" id="{261D3F88-A15B-43EC-B782-5E0AB07B9A34}"/>
              </a:ext>
            </a:extLst>
          </p:cNvPr>
          <p:cNvSpPr>
            <a:spLocks xmlns:a="http://schemas.openxmlformats.org/drawingml/2006/main" noGrp="1"/>
          </p:cNvSpPr>
          <p:nvPr/>
        </p:nvSpPr>
        <p:spPr>
          <a:xfrm xmlns:a="http://schemas.openxmlformats.org/drawingml/2006/main">
            <a:off x="390525" y="1752600"/>
            <a:ext cx="5543550" cy="4019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Live-Demo-Code-Highlight-6">
            <a:extLst xmlns:a="http://schemas.openxmlformats.org/drawingml/2006/main">
              <a:ext uri="{FF2B5EF4-FFF2-40B4-BE49-F238E27FC236}">
                <a16:creationId xmlns:a16="http://schemas.microsoft.com/office/drawing/2014/main" id="{176EA461-8A41-4665-B193-16B037BCAA38}"/>
              </a:ext>
            </a:extLst>
          </p:cNvPr>
          <p:cNvSpPr>
            <a:spLocks xmlns:a="http://schemas.openxmlformats.org/drawingml/2006/main" noGrp="1"/>
          </p:cNvSpPr>
          <p:nvPr/>
        </p:nvSpPr>
        <p:spPr>
          <a:xfrm xmlns:a="http://schemas.openxmlformats.org/drawingml/2006/main">
            <a:off x="476250" y="34004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Live-Demo-Code-Highlight-7">
            <a:extLst xmlns:a="http://schemas.openxmlformats.org/drawingml/2006/main">
              <a:ext uri="{FF2B5EF4-FFF2-40B4-BE49-F238E27FC236}">
                <a16:creationId xmlns:a16="http://schemas.microsoft.com/office/drawing/2014/main" id="{313E3707-7222-4B7F-8FDB-20CB215304BF}"/>
              </a:ext>
            </a:extLst>
          </p:cNvPr>
          <p:cNvSpPr>
            <a:spLocks xmlns:a="http://schemas.openxmlformats.org/drawingml/2006/main" noGrp="1"/>
          </p:cNvSpPr>
          <p:nvPr/>
        </p:nvSpPr>
        <p:spPr>
          <a:xfrm xmlns:a="http://schemas.openxmlformats.org/drawingml/2006/main">
            <a:off x="476250" y="37052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Live-Demo-Code">
            <a:extLst xmlns:a="http://schemas.openxmlformats.org/drawingml/2006/main">
              <a:ext uri="{FF2B5EF4-FFF2-40B4-BE49-F238E27FC236}">
                <a16:creationId xmlns:a16="http://schemas.microsoft.com/office/drawing/2014/main" id="{22DEFB25-4522-40D8-AF82-ADD9566A6EF3}"/>
              </a:ext>
            </a:extLst>
          </p:cNvPr>
          <p:cNvSpPr>
            <a:spLocks xmlns:a="http://schemas.openxmlformats.org/drawingml/2006/main" noGrp="1"/>
          </p:cNvSpPr>
          <p:nvPr/>
        </p:nvSpPr>
        <p:spPr>
          <a:xfrm xmlns:a="http://schemas.openxmlformats.org/drawingml/2006/main">
            <a:off x="542925" y="1866900"/>
            <a:ext cx="523875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List&lt;Human&gt; classroom = List.of(</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a:t>
            </a:r>
            <a:r>
              <a:rPr sz="1575" b="1">
                <a:solidFill>
                  <a:srgbClr val="000000"/>
                </a:solidFill>
                <a:latin typeface="Menlo"/>
                <a:ea typeface="Menlo"/>
                <a:cs typeface="Menlo"/>
              </a:rPr>
              <a:t>new</a:t>
            </a:r>
            <a:r>
              <a:rPr sz="1575">
                <a:solidFill>
                  <a:srgbClr val="000000"/>
                </a:solidFill>
                <a:latin typeface="Menlo"/>
                <a:ea typeface="Menlo"/>
                <a:cs typeface="Menlo"/>
              </a:rPr>
              <a:t> Student("Zub"),</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a:t>
            </a:r>
            <a:r>
              <a:rPr sz="1575" b="1">
                <a:solidFill>
                  <a:srgbClr val="000000"/>
                </a:solidFill>
                <a:latin typeface="Menlo"/>
                <a:ea typeface="Menlo"/>
                <a:cs typeface="Menlo"/>
              </a:rPr>
              <a:t>new</a:t>
            </a:r>
            <a:r>
              <a:rPr sz="1575">
                <a:solidFill>
                  <a:srgbClr val="000000"/>
                </a:solidFill>
                <a:latin typeface="Menlo"/>
                <a:ea typeface="Menlo"/>
                <a:cs typeface="Menlo"/>
              </a:rPr>
              <a:t> Teacher("Maya")</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b="1">
                <a:solidFill>
                  <a:srgbClr val="000000"/>
                </a:solidFill>
                <a:latin typeface="Menlo"/>
                <a:ea typeface="Menlo"/>
                <a:cs typeface="Menlo"/>
              </a:rPr>
              <a:t>for</a:t>
            </a:r>
            <a:r>
              <a:rPr sz="1575">
                <a:solidFill>
                  <a:srgbClr val="000000"/>
                </a:solidFill>
                <a:latin typeface="Menlo"/>
                <a:ea typeface="Menlo"/>
                <a:cs typeface="Menlo"/>
              </a:rPr>
              <a:t> (Human person : classroom) {</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    person.communicate(message);</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a:t>
            </a:r>
          </a:p>
        </p:txBody>
      </p:sp>
      <p:sp>
        <p:nvSpPr>
          <p:cNvPr id="10" name="Live-Demo-Output-Background">
            <a:extLst xmlns:a="http://schemas.openxmlformats.org/drawingml/2006/main">
              <a:ext uri="{FF2B5EF4-FFF2-40B4-BE49-F238E27FC236}">
                <a16:creationId xmlns:a16="http://schemas.microsoft.com/office/drawing/2014/main" id="{7C6E8456-D85D-4A2A-90FF-F1C7165A3B50}"/>
              </a:ext>
            </a:extLst>
          </p:cNvPr>
          <p:cNvSpPr>
            <a:spLocks xmlns:a="http://schemas.openxmlformats.org/drawingml/2006/main" noGrp="1"/>
          </p:cNvSpPr>
          <p:nvPr/>
        </p:nvSpPr>
        <p:spPr>
          <a:xfrm xmlns:a="http://schemas.openxmlformats.org/drawingml/2006/main">
            <a:off x="6257925" y="1752600"/>
            <a:ext cx="5543550" cy="4019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Live-Demo-Output-Highlight-2">
            <a:extLst xmlns:a="http://schemas.openxmlformats.org/drawingml/2006/main">
              <a:ext uri="{FF2B5EF4-FFF2-40B4-BE49-F238E27FC236}">
                <a16:creationId xmlns:a16="http://schemas.microsoft.com/office/drawing/2014/main" id="{8CCF65AF-94CC-42E0-B0D3-AB82FDD5EDED}"/>
              </a:ext>
            </a:extLst>
          </p:cNvPr>
          <p:cNvSpPr>
            <a:spLocks xmlns:a="http://schemas.openxmlformats.org/drawingml/2006/main" noGrp="1"/>
          </p:cNvSpPr>
          <p:nvPr/>
        </p:nvSpPr>
        <p:spPr>
          <a:xfrm xmlns:a="http://schemas.openxmlformats.org/drawingml/2006/main">
            <a:off x="6343650" y="21812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Live-Demo-Output-Highlight-3">
            <a:extLst xmlns:a="http://schemas.openxmlformats.org/drawingml/2006/main">
              <a:ext uri="{FF2B5EF4-FFF2-40B4-BE49-F238E27FC236}">
                <a16:creationId xmlns:a16="http://schemas.microsoft.com/office/drawing/2014/main" id="{69D43825-D159-4248-BFCE-EF861EBEB3CF}"/>
              </a:ext>
            </a:extLst>
          </p:cNvPr>
          <p:cNvSpPr>
            <a:spLocks xmlns:a="http://schemas.openxmlformats.org/drawingml/2006/main" noGrp="1"/>
          </p:cNvSpPr>
          <p:nvPr/>
        </p:nvSpPr>
        <p:spPr>
          <a:xfrm xmlns:a="http://schemas.openxmlformats.org/drawingml/2006/main">
            <a:off x="6343650" y="24860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Live-Demo-Output-Highlight-4">
            <a:extLst xmlns:a="http://schemas.openxmlformats.org/drawingml/2006/main">
              <a:ext uri="{FF2B5EF4-FFF2-40B4-BE49-F238E27FC236}">
                <a16:creationId xmlns:a16="http://schemas.microsoft.com/office/drawing/2014/main" id="{CD67B938-61AB-47FA-95A0-EBD79F6D3F25}"/>
              </a:ext>
            </a:extLst>
          </p:cNvPr>
          <p:cNvSpPr>
            <a:spLocks xmlns:a="http://schemas.openxmlformats.org/drawingml/2006/main" noGrp="1"/>
          </p:cNvSpPr>
          <p:nvPr/>
        </p:nvSpPr>
        <p:spPr>
          <a:xfrm xmlns:a="http://schemas.openxmlformats.org/drawingml/2006/main">
            <a:off x="6343650" y="27908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Live-Demo-Output-Highlight-6">
            <a:extLst xmlns:a="http://schemas.openxmlformats.org/drawingml/2006/main">
              <a:ext uri="{FF2B5EF4-FFF2-40B4-BE49-F238E27FC236}">
                <a16:creationId xmlns:a16="http://schemas.microsoft.com/office/drawing/2014/main" id="{236FAAA2-AE92-4AF7-A843-4A9556AFBAE3}"/>
              </a:ext>
            </a:extLst>
          </p:cNvPr>
          <p:cNvSpPr>
            <a:spLocks xmlns:a="http://schemas.openxmlformats.org/drawingml/2006/main" noGrp="1"/>
          </p:cNvSpPr>
          <p:nvPr/>
        </p:nvSpPr>
        <p:spPr>
          <a:xfrm xmlns:a="http://schemas.openxmlformats.org/drawingml/2006/main">
            <a:off x="6343650" y="3400425"/>
            <a:ext cx="5372100" cy="2952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Demo-Output">
            <a:extLst xmlns:a="http://schemas.openxmlformats.org/drawingml/2006/main">
              <a:ext uri="{FF2B5EF4-FFF2-40B4-BE49-F238E27FC236}">
                <a16:creationId xmlns:a16="http://schemas.microsoft.com/office/drawing/2014/main" id="{A316400C-C4E3-4EDB-A6DE-F0D0495FC779}"/>
              </a:ext>
            </a:extLst>
          </p:cNvPr>
          <p:cNvSpPr>
            <a:spLocks xmlns:a="http://schemas.openxmlformats.org/drawingml/2006/main" noGrp="1"/>
          </p:cNvSpPr>
          <p:nvPr/>
        </p:nvSpPr>
        <p:spPr>
          <a:xfrm xmlns:a="http://schemas.openxmlformats.org/drawingml/2006/main">
            <a:off x="6410325" y="1866900"/>
            <a:ext cx="523875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2000"/>
              </a:lnSpc>
              <a:buNone/>
              <a:defRPr sz="1575">
                <a:solidFill>
                  <a:srgbClr val="000000"/>
                </a:solidFill>
                <a:latin typeface="Menlo"/>
                <a:ea typeface="Menlo"/>
                <a:cs typeface="Menlo"/>
              </a:defRPr>
            </a:pPr>
            <a:r>
              <a:rPr sz="1575" i="1">
                <a:solidFill>
                  <a:srgbClr val="000000"/>
                </a:solidFill>
                <a:latin typeface="Menlo"/>
                <a:ea typeface="Menlo"/>
                <a:cs typeface="Menlo"/>
              </a:rPr>
              <a:t>OUTPUT</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raises a hand.</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waits to be called on.</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Zub communicates: ...</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a:solidFill>
                  <a:srgbClr val="000000"/>
                </a:solidFill>
                <a:latin typeface="Menlo"/>
                <a:ea typeface="Menlo"/>
                <a:cs typeface="Menlo"/>
              </a:rPr>
              <a:t>Maya communicates directly: ...</a:t>
            </a:r>
          </a:p>
          <a:p xmlns:a="http://schemas.openxmlformats.org/drawingml/2006/main">
            <a:pPr>
              <a:lnSpc>
                <a:spcPct val="92000"/>
              </a:lnSpc>
              <a:buNone/>
            </a:pPr>
            <a:r>
              <a:rPr>
                <a:solidFill>
                  <a:srgbClr val="000000"/>
                </a:solidFill>
                <a:latin typeface="Menlo"/>
                <a:ea typeface="Menlo"/>
                <a:cs typeface="Menlo"/>
              </a:rPr>
              <a:t/>
            </a:r>
          </a:p>
          <a:p xmlns:a="http://schemas.openxmlformats.org/drawingml/2006/main">
            <a:pPr>
              <a:lnSpc>
                <a:spcPct val="92000"/>
              </a:lnSpc>
              <a:buNone/>
              <a:defRPr sz="1575">
                <a:solidFill>
                  <a:srgbClr val="000000"/>
                </a:solidFill>
                <a:latin typeface="Menlo"/>
                <a:ea typeface="Menlo"/>
                <a:cs typeface="Menlo"/>
              </a:defRPr>
            </a:pPr>
            <a:r>
              <a:rPr sz="1575" i="1">
                <a:solidFill>
                  <a:srgbClr val="000000"/>
                </a:solidFill>
                <a:latin typeface="Menlo"/>
                <a:ea typeface="Menlo"/>
                <a:cs typeface="Menlo"/>
              </a:rPr>
              <a:t>The loop and method call never changed.</a:t>
            </a:r>
          </a:p>
        </p:txBody>
      </p:sp>
    </p:spTree>
    <p:extLst>
      <p:ext uri="{BB962C8B-B14F-4D97-AF65-F5344CB8AC3E}">
        <p14:creationId xmlns:p14="http://schemas.microsoft.com/office/powerpoint/2010/main" val="13505104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Slide-Number-Placeholder-1-2">
            <a:extLst xmlns:a="http://schemas.openxmlformats.org/drawingml/2006/main">
              <a:ext uri="{FF2B5EF4-FFF2-40B4-BE49-F238E27FC236}">
                <a16:creationId xmlns:a16="http://schemas.microsoft.com/office/drawing/2014/main" id="{4844E6F4-ABE9-400B-838D-273EA6DC6D8E}"/>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Title-2-3">
            <a:extLst xmlns:a="http://schemas.openxmlformats.org/drawingml/2006/main">
              <a:ext uri="{FF2B5EF4-FFF2-40B4-BE49-F238E27FC236}">
                <a16:creationId xmlns:a16="http://schemas.microsoft.com/office/drawing/2014/main" id="{D19A5C7E-38F1-47F4-A551-0EAC662BC4C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Dynamic dispatch has a boundary</a:t>
            </a:r>
          </a:p>
        </p:txBody>
      </p:sp>
      <p:sp>
        <p:nvSpPr>
          <p:cNvPr id="3" name="Content-Placeholder-9-4">
            <a:extLst xmlns:a="http://schemas.openxmlformats.org/drawingml/2006/main">
              <a:ext uri="{FF2B5EF4-FFF2-40B4-BE49-F238E27FC236}">
                <a16:creationId xmlns:a16="http://schemas.microsoft.com/office/drawing/2014/main" id="{69F45AE8-BD25-4845-BA82-8F2DD8BCB1C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OVERRIDDEN INSTANCE METHOD</a:t>
            </a:r>
          </a:p>
          <a:p xmlns:a="http://schemas.openxmlformats.org/drawingml/2006/main">
            <a:pPr algn="l">
              <a:defRPr sz="2400">
                <a:solidFill>
                  <a:srgbClr val="000000"/>
                </a:solidFill>
                <a:latin typeface="Helvetica Neue"/>
                <a:ea typeface="Helvetica Neue"/>
                <a:cs typeface="Helvetica Neue"/>
              </a:defRPr>
            </a:pPr>
            <a:r>
              <a:t>Selected from the runtime object.</a:t>
            </a:r>
          </a:p>
        </p:txBody>
      </p:sp>
      <p:sp>
        <p:nvSpPr>
          <p:cNvPr id="4" name="Content-Placeholder-10-5">
            <a:extLst xmlns:a="http://schemas.openxmlformats.org/drawingml/2006/main">
              <a:ext uri="{FF2B5EF4-FFF2-40B4-BE49-F238E27FC236}">
                <a16:creationId xmlns:a16="http://schemas.microsoft.com/office/drawing/2014/main" id="{72D31273-4E6C-42D5-8C70-658C8DAE1B1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FIELD</a:t>
            </a:r>
          </a:p>
          <a:p xmlns:a="http://schemas.openxmlformats.org/drawingml/2006/main">
            <a:pPr algn="l">
              <a:defRPr sz="2400">
                <a:solidFill>
                  <a:srgbClr val="000000"/>
                </a:solidFill>
                <a:latin typeface="Helvetica Neue"/>
                <a:ea typeface="Helvetica Neue"/>
                <a:cs typeface="Helvetica Neue"/>
              </a:defRPr>
            </a:pPr>
            <a:r>
              <a:t>Selected from the declared or qualifying type.</a:t>
            </a:r>
          </a:p>
        </p:txBody>
      </p:sp>
      <p:sp>
        <p:nvSpPr>
          <p:cNvPr id="5" name="Content-Placeholder-9-6">
            <a:extLst xmlns:a="http://schemas.openxmlformats.org/drawingml/2006/main">
              <a:ext uri="{FF2B5EF4-FFF2-40B4-BE49-F238E27FC236}">
                <a16:creationId xmlns:a16="http://schemas.microsoft.com/office/drawing/2014/main" id="{B06DEFA7-8B69-4DE7-9856-1C7893A8DCD8}"/>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STATIC METHOD</a:t>
            </a:r>
          </a:p>
          <a:p xmlns:a="http://schemas.openxmlformats.org/drawingml/2006/main">
            <a:pPr algn="l">
              <a:defRPr sz="2400">
                <a:solidFill>
                  <a:srgbClr val="000000"/>
                </a:solidFill>
                <a:latin typeface="Helvetica Neue"/>
                <a:ea typeface="Helvetica Neue"/>
                <a:cs typeface="Helvetica Neue"/>
              </a:defRPr>
            </a:pPr>
            <a:r>
              <a:t>Belongs to the named class; it is hidden, not overridden.</a:t>
            </a:r>
          </a:p>
        </p:txBody>
      </p:sp>
      <p:sp>
        <p:nvSpPr>
          <p:cNvPr id="6" name="Content-Placeholder-10-7">
            <a:extLst xmlns:a="http://schemas.openxmlformats.org/drawingml/2006/main">
              <a:ext uri="{FF2B5EF4-FFF2-40B4-BE49-F238E27FC236}">
                <a16:creationId xmlns:a16="http://schemas.microsoft.com/office/drawing/2014/main" id="{5B0A1DF0-D95F-4C6E-9245-6C96DE86B98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CONSTRUCTOR</a:t>
            </a:r>
          </a:p>
          <a:p xmlns:a="http://schemas.openxmlformats.org/drawingml/2006/main">
            <a:pPr algn="l">
              <a:defRPr sz="2400">
                <a:solidFill>
                  <a:srgbClr val="000000"/>
                </a:solidFill>
                <a:latin typeface="Helvetica Neue"/>
                <a:ea typeface="Helvetica Neue"/>
                <a:cs typeface="Helvetica Neue"/>
              </a:defRPr>
            </a:pPr>
            <a:r>
              <a:t>Selected by the class written after new; never overridden.</a:t>
            </a:r>
          </a:p>
        </p:txBody>
      </p:sp>
      <p:sp>
        <p:nvSpPr>
          <p:cNvPr id="7" name="Kicker-BEYOND-THE-BASICS-•-MEMBER-SELECTION">
            <a:extLst xmlns:a="http://schemas.openxmlformats.org/drawingml/2006/main">
              <a:ext uri="{FF2B5EF4-FFF2-40B4-BE49-F238E27FC236}">
                <a16:creationId xmlns:a16="http://schemas.microsoft.com/office/drawing/2014/main" id="{F8F3E7EE-B1CE-447D-BDDE-FA65E8D3BEFA}"/>
              </a:ext>
            </a:extLst>
          </p:cNvPr>
          <p:cNvSpPr>
            <a:spLocks xmlns:a="http://schemas.openxmlformats.org/drawingml/2006/main" noGrp="1"/>
          </p:cNvSpPr>
          <p:nvPr/>
        </p:nvSpPr>
        <p:spPr>
          <a:xfrm xmlns:a="http://schemas.openxmlformats.org/drawingml/2006/main">
            <a:off x="6667500" y="12573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BEYOND THE BASICS • MEMBER SELECTION</a:t>
            </a:r>
          </a:p>
        </p:txBody>
      </p:sp>
    </p:spTree>
    <p:extLst>
      <p:ext uri="{BB962C8B-B14F-4D97-AF65-F5344CB8AC3E}">
        <p14:creationId xmlns:p14="http://schemas.microsoft.com/office/powerpoint/2010/main" val="181008075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D1DE28E1-6AC4-4C0B-818E-177FBB8A8469}"/>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Connected,
not identical.</a:t>
            </a:r>
          </a:p>
        </p:txBody>
      </p:sp>
      <p:sp>
        <p:nvSpPr>
          <p:cNvPr id="2" name="Subtitle-4-2">
            <a:extLst xmlns:a="http://schemas.openxmlformats.org/drawingml/2006/main">
              <a:ext uri="{FF2B5EF4-FFF2-40B4-BE49-F238E27FC236}">
                <a16:creationId xmlns:a16="http://schemas.microsoft.com/office/drawing/2014/main" id="{A2393118-0C5A-4B85-9A2D-E219643074EE}"/>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Declared relationship</a:t>
            </a:r>
          </a:p>
          <a:p xmlns:a="http://schemas.openxmlformats.org/drawingml/2006/main">
            <a:pPr algn="l">
              <a:defRPr sz="2400">
                <a:solidFill>
                  <a:srgbClr val="000000"/>
                </a:solidFill>
                <a:latin typeface="Helvetica Neue"/>
                <a:ea typeface="Helvetica Neue"/>
                <a:cs typeface="Helvetica Neue"/>
              </a:defRPr>
            </a:pPr>
            <a:r>
              <a:t>Runtime implementation</a:t>
            </a:r>
          </a:p>
          <a:p xmlns:a="http://schemas.openxmlformats.org/drawingml/2006/main">
            <a:pPr algn="l">
              <a:defRPr sz="2400">
                <a:solidFill>
                  <a:srgbClr val="000000"/>
                </a:solidFill>
                <a:latin typeface="Helvetica Neue"/>
                <a:ea typeface="Helvetica Neue"/>
                <a:cs typeface="Helvetica Neue"/>
              </a:defRPr>
            </a:pPr>
            <a:r>
              <a:t>Questions?</a:t>
            </a:r>
          </a:p>
        </p:txBody>
      </p:sp>
      <p:sp>
        <p:nvSpPr>
          <p:cNvPr id="3" name="Subtitle-4-3">
            <a:extLst xmlns:a="http://schemas.openxmlformats.org/drawingml/2006/main">
              <a:ext uri="{FF2B5EF4-FFF2-40B4-BE49-F238E27FC236}">
                <a16:creationId xmlns:a16="http://schemas.microsoft.com/office/drawing/2014/main" id="{DCC99710-23AE-4946-997C-1DDB4D0E0475}"/>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TAKEAWAY</a:t>
            </a:r>
          </a:p>
        </p:txBody>
      </p:sp>
      <p:sp>
        <p:nvSpPr>
          <p:cNvPr id="4" name="Closing-Formula">
            <a:extLst xmlns:a="http://schemas.openxmlformats.org/drawingml/2006/main">
              <a:ext uri="{FF2B5EF4-FFF2-40B4-BE49-F238E27FC236}">
                <a16:creationId xmlns:a16="http://schemas.microsoft.com/office/drawing/2014/main" id="{D7EAF765-8433-422F-9772-ED7A92F3CC1C}"/>
              </a:ext>
            </a:extLst>
          </p:cNvPr>
          <p:cNvSpPr>
            <a:spLocks xmlns:a="http://schemas.openxmlformats.org/drawingml/2006/main" noGrp="1"/>
          </p:cNvSpPr>
          <p:nvPr/>
        </p:nvSpPr>
        <p:spPr>
          <a:xfrm xmlns:a="http://schemas.openxmlformats.org/drawingml/2006/main">
            <a:off x="6286500" y="4619625"/>
            <a:ext cx="5429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Inheritance builds the relationship.  Overriding supplies the versions.  Polymorphism selects behavior at runtime.</a:t>
            </a:r>
          </a:p>
        </p:txBody>
      </p:sp>
    </p:spTree>
    <p:extLst>
      <p:ext uri="{BB962C8B-B14F-4D97-AF65-F5344CB8AC3E}">
        <p14:creationId xmlns:p14="http://schemas.microsoft.com/office/powerpoint/2010/main" val="21353987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2026-07-28T13:30:14.1360000Z</dcterms:created>
  <dcterms:modified xsi:type="dcterms:W3CDTF">2026-07-28T13:30:14.1360000Z</dcterms:modified>
</coreProperties>
</file>